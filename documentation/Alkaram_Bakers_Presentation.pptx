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d07ec14-889e-23ba-dcb9-9bcffdddc0a9}">
          <p14:sldIdLst>
            <p14:sldId id="256"/>
            <p14:sldId id="257"/>
          </p14:sldIdLst>
        </p14:section>
        <p14:section name="Website" id="{f312f245-ff8f-992c-4880-462eedfd8fc3}">
          <p14:sldIdLst>
            <p14:sldId id="258"/>
            <p14:sldId id="259"/>
            <p14:sldId id="260"/>
          </p14:sldIdLst>
        </p14:section>
        <p14:section name="Ordering" id="{0552d3ee-9e46-c664-1878-03e08185a33f}">
          <p14:sldIdLst>
            <p14:sldId id="261"/>
            <p14:sldId id="262"/>
            <p14:sldId id="263"/>
          </p14:sldIdLst>
        </p14:section>
        <p14:section name="Wrap-up" id="{84d49e18-8757-5506-111d-1c72e81b117b}">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A1209"/>
                </a:solidFill>
                <a:latin typeface="+mn-lt"/>
              </a:defRPr>
            </a:pPr>
            <a:r>
              <a:rPr sz="1600" b="0" i="0" u="none" strike="noStrike">
                <a:solidFill>
                  <a:srgbClr val="2A1209"/>
                </a:solidFill>
                <a:latin typeface="+mn-lt"/>
              </a:rPr>
              <a:t>Items per category</a:t>
            </a:r>
          </a:p>
        </c:rich>
      </c:tx>
      <c:layout/>
      <c:overlay val="0"/>
    </c:title>
    <c:autoTitleDeleted val="0"/>
    <c:plotArea>
      <c:layout/>
      <c:barChart>
        <c:barDir val="col"/>
        <c:grouping val="clustered"/>
        <c:varyColors val="0"/>
        <c:ser>
          <c:idx val="0"/>
          <c:order val="0"/>
          <c:tx>
            <c:strRef>
              <c:f>Sheet1!$B$1</c:f>
              <c:strCache>
                <c:ptCount val="1"/>
                <c:pt idx="0">
                  <c:v>Items</c:v>
                </c:pt>
              </c:strCache>
            </c:strRef>
          </c:tx>
          <c:spPr>
            <a:solidFill>
              <a:srgbClr val="6A351C"/>
            </a:solidFill>
            <a:effectLst/>
          </c:spPr>
          <c:invertIfNegative val="0"/>
          <c:dLbls>
            <c:numFmt formatCode="#,##0" sourceLinked="0"/>
            <c:txPr>
              <a:bodyPr/>
              <a:lstStyle/>
              <a:p>
                <a:pPr>
                  <a:defRPr b="0" i="0" strike="noStrike" sz="1200" u="none">
                    <a:solidFill>
                      <a:srgbClr val="2A1209"/>
                    </a:solidFill>
                    <a:latin typeface="+mn-lt"/>
                  </a:defRPr>
                </a:pPr>
              </a:p>
            </c:txPr>
            <c:showLegendKey val="0"/>
            <c:showVal val="1"/>
            <c:showCatName val="0"/>
            <c:showSerName val="0"/>
            <c:showPercent val="0"/>
            <c:showBubbleSize val="0"/>
            <c:showLeaderLines val="0"/>
          </c:dLbls>
          <c:cat>
            <c:multiLvlStrRef>
              <c:f>Sheet1!$A$2:$A$6</c:f>
              <c:multiLvlStrCache>
                <c:ptCount val="5"/>
                <c:lvl>
                  <c:pt idx="0">
                    <c:v>Cakes</c:v>
                  </c:pt>
                  <c:pt idx="1">
                    <c:v>Pastries</c:v>
                  </c:pt>
                  <c:pt idx="2">
                    <c:v>Cookies</c:v>
                  </c:pt>
                  <c:pt idx="3">
                    <c:v>Sweets</c:v>
                  </c:pt>
                  <c:pt idx="4">
                    <c:v>Patties</c:v>
                  </c:pt>
                </c:lvl>
              </c:multiLvlStrCache>
            </c:multiLvlStrRef>
          </c:cat>
          <c:val>
            <c:numRef>
              <c:f>Sheet1!$B$2:$B$6</c:f>
              <c:numCache>
                <c:formatCode>General</c:formatCode>
                <c:ptCount val="5"/>
                <c:pt idx="0">
                  <c:v>9</c:v>
                </c:pt>
                <c:pt idx="1">
                  <c:v>6</c:v>
                </c:pt>
                <c:pt idx="2">
                  <c:v>6</c:v>
                </c:pt>
                <c:pt idx="3">
                  <c:v>6</c:v>
                </c:pt>
                <c:pt idx="4">
                  <c:v>6</c:v>
                </c:pt>
              </c:numCache>
            </c:numRef>
          </c:val>
        </c:ser>
        <c:dLbls>
          <c:numFmt formatCode="#,##0" sourceLinked="0"/>
          <c:txPr>
            <a:bodyPr/>
            <a:lstStyle/>
            <a:p>
              <a:pPr>
                <a:defRPr b="0" i="0" strike="noStrike" sz="1200" u="none">
                  <a:solidFill>
                    <a:srgbClr val="2A120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5D52"/>
                </a:solidFill>
                <a:latin typeface="+mn-lt"/>
              </a:defRPr>
            </a:pPr>
            <a:endParaRPr lang="en-US"/>
          </a:p>
        </c:txPr>
        <c:crossAx val="2094734552"/>
        <c:crosses val="autoZero"/>
        <c:auto val="1"/>
        <c:lblAlgn val="ctr"/>
        <c:noMultiLvlLbl val="1"/>
      </c:catAx>
      <c:valAx>
        <c:axId val="2094734552"/>
        <c:scaling>
          <c:orientation val="minMax"/>
          <c:max val="10"/>
        </c:scaling>
        <c:delete val="0"/>
        <c:axPos val="l"/>
        <c:majorGridlines>
          <c:spPr>
            <a:ln w="9525" cap="flat">
              <a:solidFill>
                <a:srgbClr val="E4D6C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5D5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A1209"/>
                </a:solidFill>
                <a:latin typeface="+mn-lt"/>
              </a:defRPr>
            </a:pPr>
            <a:r>
              <a:rPr sz="1600" b="0" i="0" u="none" strike="noStrike">
                <a:solidFill>
                  <a:srgbClr val="2A1209"/>
                </a:solidFill>
                <a:latin typeface="+mn-lt"/>
              </a:rPr>
              <a:t>Price range per category (Rs.)</a:t>
            </a:r>
          </a:p>
        </c:rich>
      </c:tx>
      <c:layout/>
      <c:overlay val="0"/>
    </c:title>
    <c:autoTitleDeleted val="0"/>
    <c:plotArea>
      <c:layout/>
      <c:barChart>
        <c:barDir val="col"/>
        <c:grouping val="clustered"/>
        <c:varyColors val="0"/>
        <c:ser>
          <c:idx val="0"/>
          <c:order val="0"/>
          <c:tx>
            <c:strRef>
              <c:f>Sheet1!$B$1</c:f>
              <c:strCache>
                <c:ptCount val="1"/>
                <c:pt idx="0">
                  <c:v>Lowest price</c:v>
                </c:pt>
              </c:strCache>
            </c:strRef>
          </c:tx>
          <c:spPr>
            <a:solidFill>
              <a:srgbClr val="E2AD3C"/>
            </a:solidFill>
            <a:effectLst/>
          </c:spPr>
          <c:invertIfNegative val="0"/>
          <c:dLbls>
            <c:numFmt formatCode="#,##0" sourceLinked="0"/>
            <c:txPr>
              <a:bodyPr/>
              <a:lstStyle/>
              <a:p>
                <a:pPr>
                  <a:defRPr b="0" i="0" strike="noStrike" sz="1000" u="none">
                    <a:solidFill>
                      <a:srgbClr val="2A1209"/>
                    </a:solidFill>
                    <a:latin typeface="+mn-lt"/>
                  </a:defRPr>
                </a:pPr>
              </a:p>
            </c:txPr>
            <c:showLegendKey val="0"/>
            <c:showVal val="1"/>
            <c:showCatName val="0"/>
            <c:showSerName val="0"/>
            <c:showPercent val="0"/>
            <c:showBubbleSize val="0"/>
            <c:showLeaderLines val="0"/>
          </c:dLbls>
          <c:cat>
            <c:multiLvlStrRef>
              <c:f>Sheet1!$A$2:$A$6</c:f>
              <c:multiLvlStrCache>
                <c:ptCount val="5"/>
                <c:lvl>
                  <c:pt idx="0">
                    <c:v>Cakes</c:v>
                  </c:pt>
                  <c:pt idx="1">
                    <c:v>Pastries</c:v>
                  </c:pt>
                  <c:pt idx="2">
                    <c:v>Cookies</c:v>
                  </c:pt>
                  <c:pt idx="3">
                    <c:v>Sweets</c:v>
                  </c:pt>
                  <c:pt idx="4">
                    <c:v>Patties</c:v>
                  </c:pt>
                </c:lvl>
              </c:multiLvlStrCache>
            </c:multiLvlStrRef>
          </c:cat>
          <c:val>
            <c:numRef>
              <c:f>Sheet1!$B$2:$B$6</c:f>
              <c:numCache>
                <c:formatCode>General</c:formatCode>
                <c:ptCount val="5"/>
                <c:pt idx="0">
                  <c:v>1800</c:v>
                </c:pt>
                <c:pt idx="1">
                  <c:v>2500</c:v>
                </c:pt>
                <c:pt idx="2">
                  <c:v>100</c:v>
                </c:pt>
                <c:pt idx="3">
                  <c:v>100</c:v>
                </c:pt>
                <c:pt idx="4">
                  <c:v>100</c:v>
                </c:pt>
              </c:numCache>
            </c:numRef>
          </c:val>
        </c:ser>
        <c:ser>
          <c:idx val="1"/>
          <c:order val="1"/>
          <c:tx>
            <c:strRef>
              <c:f>Sheet1!$C$1</c:f>
              <c:strCache>
                <c:ptCount val="1"/>
                <c:pt idx="0">
                  <c:v>Highest price</c:v>
                </c:pt>
              </c:strCache>
            </c:strRef>
          </c:tx>
          <c:spPr>
            <a:solidFill>
              <a:srgbClr val="6A351C"/>
            </a:solidFill>
            <a:effectLst/>
          </c:spPr>
          <c:invertIfNegative val="0"/>
          <c:dLbls>
            <c:numFmt formatCode="#,##0" sourceLinked="0"/>
            <c:txPr>
              <a:bodyPr/>
              <a:lstStyle/>
              <a:p>
                <a:pPr>
                  <a:defRPr b="0" i="0" strike="noStrike" sz="1000" u="none">
                    <a:solidFill>
                      <a:srgbClr val="2A1209"/>
                    </a:solidFill>
                    <a:latin typeface="+mn-lt"/>
                  </a:defRPr>
                </a:pPr>
              </a:p>
            </c:txPr>
            <c:showLegendKey val="0"/>
            <c:showVal val="1"/>
            <c:showCatName val="0"/>
            <c:showSerName val="0"/>
            <c:showPercent val="0"/>
            <c:showBubbleSize val="0"/>
            <c:showLeaderLines val="0"/>
          </c:dLbls>
          <c:cat>
            <c:multiLvlStrRef>
              <c:f>Sheet1!$A$2:$A$6</c:f>
              <c:multiLvlStrCache>
                <c:ptCount val="5"/>
                <c:lvl>
                  <c:pt idx="0">
                    <c:v>Cakes</c:v>
                  </c:pt>
                  <c:pt idx="1">
                    <c:v>Pastries</c:v>
                  </c:pt>
                  <c:pt idx="2">
                    <c:v>Cookies</c:v>
                  </c:pt>
                  <c:pt idx="3">
                    <c:v>Sweets</c:v>
                  </c:pt>
                  <c:pt idx="4">
                    <c:v>Patties</c:v>
                  </c:pt>
                </c:lvl>
              </c:multiLvlStrCache>
            </c:multiLvlStrRef>
          </c:cat>
          <c:val>
            <c:numRef>
              <c:f>Sheet1!$C$2:$C$6</c:f>
              <c:numCache>
                <c:formatCode>General</c:formatCode>
                <c:ptCount val="5"/>
                <c:pt idx="0">
                  <c:v>4000</c:v>
                </c:pt>
                <c:pt idx="1">
                  <c:v>2500</c:v>
                </c:pt>
                <c:pt idx="2">
                  <c:v>2500</c:v>
                </c:pt>
                <c:pt idx="3">
                  <c:v>100</c:v>
                </c:pt>
                <c:pt idx="4">
                  <c:v>100</c:v>
                </c:pt>
              </c:numCache>
            </c:numRef>
          </c:val>
        </c:ser>
        <c:dLbls>
          <c:numFmt formatCode="#,##0" sourceLinked="0"/>
          <c:txPr>
            <a:bodyPr/>
            <a:lstStyle/>
            <a:p>
              <a:pPr>
                <a:defRPr b="0" i="0" strike="noStrike" sz="1000" u="none">
                  <a:solidFill>
                    <a:srgbClr val="2A120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5D52"/>
                </a:solidFill>
                <a:latin typeface="+mn-lt"/>
              </a:defRPr>
            </a:pPr>
            <a:endParaRPr lang="en-US"/>
          </a:p>
        </c:txPr>
        <c:crossAx val="2094734552"/>
        <c:crosses val="autoZero"/>
        <c:auto val="1"/>
        <c:lblAlgn val="ctr"/>
        <c:noMultiLvlLbl val="1"/>
      </c:catAx>
      <c:valAx>
        <c:axId val="2094734552"/>
        <c:scaling>
          <c:orientation val="minMax"/>
          <c:max val="5000"/>
        </c:scaling>
        <c:delete val="0"/>
        <c:axPos val="l"/>
        <c:majorGridlines>
          <c:spPr>
            <a:ln w="9525" cap="flat">
              <a:solidFill>
                <a:srgbClr val="E4D6C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5D5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F5D5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shows the finished Alkaram Bakers website: what customers see, how ordering works, and what is left to do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is one page with twelve sections. It has no backend, so it can be hosted anywhere. The free delivery threshold of Rs. 2,000 is applied automatically in the 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 of the page. The navbar, hero slider and the two call-to-action buttons are all working. Product photos need internet, so in this screenshot they appear as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can start from a category card or go straight to the menu. The View Category link jumps to the menu with that category selected. Pies has no items yet, so it shows a message asking visitors to contact the bakery.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cakes have nine items and every other category has six. Right: lowest and highest price in each category. If the flat prices are not the real prices, edit data-price on each item in 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cart total is exactly Rs. 2,000, so delivery shows as Free. The cart is saved in the browser, so it survives a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thing to set before launch is the WhatsApp number. Format: country code plus number, with no plus sign or spaces, for example 923001234567.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992 pixels wide the layout switches to the phone version. Most bakery customers will order from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main problems found when the original files were reviewed. Everything was tested in a browser: cart, checkout, filters, the mobile menu and the sitemap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these five updates the site is ready to upload. Then submit sitemap.xml in Google Search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2A120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931920" y="2148840"/>
            <a:ext cx="7680960" cy="14630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3931920" y="3749040"/>
            <a:ext cx="7680960" cy="91440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100" dirty="0">
                <a:solidFill>
                  <a:srgbClr val="6F5D52"/>
                </a:solidFill>
              </a:rPr>
              <a:t>Alkaram Bakers website</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2A120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100" dirty="0">
                <a:solidFill>
                  <a:srgbClr val="D8C6B4"/>
                </a:solidFill>
              </a:rPr>
              <a:t>Alkaram Bakers website</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8C6B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Alkaram Bakers logo">    </p:cNvPr>
          <p:cNvPicPr>
            <a:picLocks noChangeAspect="1"/>
          </p:cNvPicPr>
          <p:nvPr/>
        </p:nvPicPr>
        <p:blipFill>
          <a:blip r:embed="rId1"/>
          <a:stretch>
            <a:fillRect/>
          </a:stretch>
        </p:blipFill>
        <p:spPr>
          <a:xfrm>
            <a:off x="822960" y="1920240"/>
            <a:ext cx="2743200" cy="2743200"/>
          </a:xfrm>
          <a:prstGeom prst="rect">
            <a:avLst/>
          </a:prstGeom>
        </p:spPr>
      </p:pic>
      <p:sp>
        <p:nvSpPr>
          <p:cNvPr id="3" name="Text 0"/>
          <p:cNvSpPr/>
          <p:nvPr>
            <p:ph idx="100" type="title" hasCustomPrompt="1"/>
          </p:nvPr>
        </p:nvSpPr>
        <p:spPr>
          <a:xfrm>
            <a:off x="3931920" y="2148840"/>
            <a:ext cx="7680960" cy="1463040"/>
          </a:xfrm>
          <a:prstGeom prst="rect">
            <a:avLst/>
          </a:prstGeom>
          <a:noFill/>
          <a:ln/>
        </p:spPr>
        <p:txBody>
          <a:bodyPr wrap="square" lIns="0" tIns="0" rIns="0" bIns="0" rtlCol="0" anchor="b"/>
          <a:lstStyle/>
          <a:p>
            <a:pPr algn="l" indent="0" marL="0">
              <a:buNone/>
            </a:pPr>
            <a:r>
              <a:rPr lang="en-US" sz="4600" b="1" dirty="0">
                <a:solidFill>
                  <a:schemeClr val="bg1"/>
                </a:solidFill>
              </a:rPr>
              <a:t>Alkaram Bakers Website</a:t>
            </a:r>
            <a:endParaRPr lang="en-US" sz="4600" dirty="0"/>
          </a:p>
        </p:txBody>
      </p:sp>
      <p:sp>
        <p:nvSpPr>
          <p:cNvPr id="4" name="Text 0"/>
          <p:cNvSpPr/>
          <p:nvPr>
            <p:ph idx="101" type="body" hasCustomPrompt="1"/>
          </p:nvPr>
        </p:nvSpPr>
        <p:spPr>
          <a:xfrm>
            <a:off x="3931920" y="3749040"/>
            <a:ext cx="7680960" cy="914400"/>
          </a:xfrm>
          <a:prstGeom prst="rect">
            <a:avLst/>
          </a:prstGeom>
          <a:noFill/>
          <a:ln/>
        </p:spPr>
        <p:txBody>
          <a:bodyPr wrap="square" lIns="0" tIns="0" rIns="0" bIns="0" rtlCol="0" anchor="t"/>
          <a:lstStyle/>
          <a:p>
            <a:pPr indent="0" marL="0">
              <a:buNone/>
            </a:pPr>
            <a:r>
              <a:rPr lang="en-US" sz="2200" dirty="0">
                <a:solidFill>
                  <a:schemeClr val="accent1"/>
                </a:solidFill>
              </a:rPr>
              <a:t>Fresh cakes, pastries and sweets, ordered online from Karachi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A complete online bakery on one page</a:t>
            </a:r>
            <a:endParaRPr lang="en-US" sz="3600" dirty="0"/>
          </a:p>
        </p:txBody>
      </p:sp>
      <p:sp>
        <p:nvSpPr>
          <p:cNvPr id="3" name="Stat card 1"/>
          <p:cNvSpPr/>
          <p:nvPr/>
        </p:nvSpPr>
        <p:spPr>
          <a:xfrm>
            <a:off x="548640" y="1554480"/>
            <a:ext cx="2606040" cy="1920240"/>
          </a:xfrm>
          <a:prstGeom prst="roundRect">
            <a:avLst>
              <a:gd name="adj" fmla="val 5714"/>
            </a:avLst>
          </a:prstGeom>
          <a:solidFill>
            <a:schemeClr val="bg2"/>
          </a:solidFill>
          <a:ln w="12700">
            <a:solidFill>
              <a:schemeClr val="bg2"/>
            </a:solidFill>
            <a:prstDash val="solid"/>
          </a:ln>
        </p:spPr>
      </p:sp>
      <p:sp>
        <p:nvSpPr>
          <p:cNvPr id="4" name="Stat value 1"/>
          <p:cNvSpPr txBox="1"/>
          <p:nvPr/>
        </p:nvSpPr>
        <p:spPr>
          <a:xfrm>
            <a:off x="777240" y="1691640"/>
            <a:ext cx="214884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33</a:t>
            </a:r>
            <a:endParaRPr lang="en-US" sz="5400" dirty="0"/>
          </a:p>
        </p:txBody>
      </p:sp>
      <p:sp>
        <p:nvSpPr>
          <p:cNvPr id="5" name="Stat label 1"/>
          <p:cNvSpPr txBox="1"/>
          <p:nvPr/>
        </p:nvSpPr>
        <p:spPr>
          <a:xfrm>
            <a:off x="777240" y="2697480"/>
            <a:ext cx="2148840" cy="457200"/>
          </a:xfrm>
          <a:prstGeom prst="rect">
            <a:avLst/>
          </a:prstGeom>
          <a:noFill/>
          <a:ln/>
        </p:spPr>
        <p:txBody>
          <a:bodyPr wrap="square" lIns="0" tIns="0" rIns="0" bIns="0" rtlCol="0" anchor="t"/>
          <a:lstStyle/>
          <a:p>
            <a:pPr indent="0" marL="0">
              <a:buNone/>
            </a:pPr>
            <a:r>
              <a:rPr lang="en-US" sz="1600" dirty="0">
                <a:solidFill>
                  <a:schemeClr val="tx2"/>
                </a:solidFill>
              </a:rPr>
              <a:t>menu items</a:t>
            </a:r>
            <a:endParaRPr lang="en-US" sz="1600" dirty="0"/>
          </a:p>
        </p:txBody>
      </p:sp>
      <p:sp>
        <p:nvSpPr>
          <p:cNvPr id="6" name="Stat card 2"/>
          <p:cNvSpPr/>
          <p:nvPr/>
        </p:nvSpPr>
        <p:spPr>
          <a:xfrm>
            <a:off x="3374136" y="1554480"/>
            <a:ext cx="2606040" cy="1920240"/>
          </a:xfrm>
          <a:prstGeom prst="roundRect">
            <a:avLst>
              <a:gd name="adj" fmla="val 5714"/>
            </a:avLst>
          </a:prstGeom>
          <a:solidFill>
            <a:schemeClr val="bg2"/>
          </a:solidFill>
          <a:ln w="12700">
            <a:solidFill>
              <a:schemeClr val="bg2"/>
            </a:solidFill>
            <a:prstDash val="solid"/>
          </a:ln>
        </p:spPr>
      </p:sp>
      <p:sp>
        <p:nvSpPr>
          <p:cNvPr id="7" name="Stat value 2"/>
          <p:cNvSpPr txBox="1"/>
          <p:nvPr/>
        </p:nvSpPr>
        <p:spPr>
          <a:xfrm>
            <a:off x="3602736" y="1691640"/>
            <a:ext cx="214884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5</a:t>
            </a:r>
            <a:endParaRPr lang="en-US" sz="5400" dirty="0"/>
          </a:p>
        </p:txBody>
      </p:sp>
      <p:sp>
        <p:nvSpPr>
          <p:cNvPr id="8" name="Stat label 2"/>
          <p:cNvSpPr txBox="1"/>
          <p:nvPr/>
        </p:nvSpPr>
        <p:spPr>
          <a:xfrm>
            <a:off x="3602736" y="2697480"/>
            <a:ext cx="2148840" cy="457200"/>
          </a:xfrm>
          <a:prstGeom prst="rect">
            <a:avLst/>
          </a:prstGeom>
          <a:noFill/>
          <a:ln/>
        </p:spPr>
        <p:txBody>
          <a:bodyPr wrap="square" lIns="0" tIns="0" rIns="0" bIns="0" rtlCol="0" anchor="t"/>
          <a:lstStyle/>
          <a:p>
            <a:pPr indent="0" marL="0">
              <a:buNone/>
            </a:pPr>
            <a:r>
              <a:rPr lang="en-US" sz="1600" dirty="0">
                <a:solidFill>
                  <a:schemeClr val="tx2"/>
                </a:solidFill>
              </a:rPr>
              <a:t>menu categories</a:t>
            </a:r>
            <a:endParaRPr lang="en-US" sz="1600" dirty="0"/>
          </a:p>
        </p:txBody>
      </p:sp>
      <p:sp>
        <p:nvSpPr>
          <p:cNvPr id="9" name="Stat card 3"/>
          <p:cNvSpPr/>
          <p:nvPr/>
        </p:nvSpPr>
        <p:spPr>
          <a:xfrm>
            <a:off x="6199632" y="1554480"/>
            <a:ext cx="2606040" cy="1920240"/>
          </a:xfrm>
          <a:prstGeom prst="roundRect">
            <a:avLst>
              <a:gd name="adj" fmla="val 5714"/>
            </a:avLst>
          </a:prstGeom>
          <a:solidFill>
            <a:schemeClr val="bg2"/>
          </a:solidFill>
          <a:ln w="12700">
            <a:solidFill>
              <a:schemeClr val="bg2"/>
            </a:solidFill>
            <a:prstDash val="solid"/>
          </a:ln>
        </p:spPr>
      </p:sp>
      <p:sp>
        <p:nvSpPr>
          <p:cNvPr id="10" name="Stat value 3"/>
          <p:cNvSpPr txBox="1"/>
          <p:nvPr/>
        </p:nvSpPr>
        <p:spPr>
          <a:xfrm>
            <a:off x="6428232" y="1691640"/>
            <a:ext cx="214884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12</a:t>
            </a:r>
            <a:endParaRPr lang="en-US" sz="5400" dirty="0"/>
          </a:p>
        </p:txBody>
      </p:sp>
      <p:sp>
        <p:nvSpPr>
          <p:cNvPr id="11" name="Stat label 3"/>
          <p:cNvSpPr txBox="1"/>
          <p:nvPr/>
        </p:nvSpPr>
        <p:spPr>
          <a:xfrm>
            <a:off x="6428232" y="2697480"/>
            <a:ext cx="2148840" cy="457200"/>
          </a:xfrm>
          <a:prstGeom prst="rect">
            <a:avLst/>
          </a:prstGeom>
          <a:noFill/>
          <a:ln/>
        </p:spPr>
        <p:txBody>
          <a:bodyPr wrap="square" lIns="0" tIns="0" rIns="0" bIns="0" rtlCol="0" anchor="t"/>
          <a:lstStyle/>
          <a:p>
            <a:pPr indent="0" marL="0">
              <a:buNone/>
            </a:pPr>
            <a:r>
              <a:rPr lang="en-US" sz="1600" dirty="0">
                <a:solidFill>
                  <a:schemeClr val="tx2"/>
                </a:solidFill>
              </a:rPr>
              <a:t>page sections</a:t>
            </a:r>
            <a:endParaRPr lang="en-US" sz="1600" dirty="0"/>
          </a:p>
        </p:txBody>
      </p:sp>
      <p:sp>
        <p:nvSpPr>
          <p:cNvPr id="12" name="Stat card 4"/>
          <p:cNvSpPr/>
          <p:nvPr/>
        </p:nvSpPr>
        <p:spPr>
          <a:xfrm>
            <a:off x="9025128" y="1554480"/>
            <a:ext cx="2606040" cy="1920240"/>
          </a:xfrm>
          <a:prstGeom prst="roundRect">
            <a:avLst>
              <a:gd name="adj" fmla="val 5714"/>
            </a:avLst>
          </a:prstGeom>
          <a:solidFill>
            <a:schemeClr val="bg2"/>
          </a:solidFill>
          <a:ln w="12700">
            <a:solidFill>
              <a:schemeClr val="bg2"/>
            </a:solidFill>
            <a:prstDash val="solid"/>
          </a:ln>
        </p:spPr>
      </p:sp>
      <p:sp>
        <p:nvSpPr>
          <p:cNvPr id="13" name="Stat value 4"/>
          <p:cNvSpPr txBox="1"/>
          <p:nvPr/>
        </p:nvSpPr>
        <p:spPr>
          <a:xfrm>
            <a:off x="9253728" y="1691640"/>
            <a:ext cx="2148840" cy="100584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Rs. 2,000</a:t>
            </a:r>
            <a:endParaRPr lang="en-US" sz="3600" dirty="0"/>
          </a:p>
        </p:txBody>
      </p:sp>
      <p:sp>
        <p:nvSpPr>
          <p:cNvPr id="14" name="Stat label 4"/>
          <p:cNvSpPr txBox="1"/>
          <p:nvPr/>
        </p:nvSpPr>
        <p:spPr>
          <a:xfrm>
            <a:off x="9253728" y="2697480"/>
            <a:ext cx="2148840" cy="457200"/>
          </a:xfrm>
          <a:prstGeom prst="rect">
            <a:avLst/>
          </a:prstGeom>
          <a:noFill/>
          <a:ln/>
        </p:spPr>
        <p:txBody>
          <a:bodyPr wrap="square" lIns="0" tIns="0" rIns="0" bIns="0" rtlCol="0" anchor="t"/>
          <a:lstStyle/>
          <a:p>
            <a:pPr indent="0" marL="0">
              <a:buNone/>
            </a:pPr>
            <a:r>
              <a:rPr lang="en-US" sz="1600" dirty="0">
                <a:solidFill>
                  <a:schemeClr val="tx2"/>
                </a:solidFill>
              </a:rPr>
              <a:t>free delivery from</a:t>
            </a:r>
            <a:endParaRPr lang="en-US" sz="1600" dirty="0"/>
          </a:p>
        </p:txBody>
      </p:sp>
      <p:sp>
        <p:nvSpPr>
          <p:cNvPr id="15" name="Feature 1 circle"/>
          <p:cNvSpPr/>
          <p:nvPr/>
        </p:nvSpPr>
        <p:spPr>
          <a:xfrm>
            <a:off x="548640" y="3931920"/>
            <a:ext cx="640080" cy="640080"/>
          </a:xfrm>
          <a:prstGeom prst="ellipse">
            <a:avLst/>
          </a:prstGeom>
          <a:solidFill>
            <a:schemeClr val="accent1"/>
          </a:solidFill>
          <a:ln w="12700">
            <a:solidFill>
              <a:schemeClr val="accent1"/>
            </a:solidFill>
            <a:prstDash val="solid"/>
          </a:ln>
        </p:spPr>
      </p:sp>
      <p:pic>
        <p:nvPicPr>
          <p:cNvPr id="16" name="Feature 1 icon" descr="Feature 1">    </p:cNvPr>
          <p:cNvPicPr>
            <a:picLocks noChangeAspect="1"/>
          </p:cNvPicPr>
          <p:nvPr/>
        </p:nvPicPr>
        <p:blipFill>
          <a:blip r:embed="rId1"/>
          <a:stretch>
            <a:fillRect/>
          </a:stretch>
        </p:blipFill>
        <p:spPr>
          <a:xfrm>
            <a:off x="715061" y="4098341"/>
            <a:ext cx="307238" cy="307238"/>
          </a:xfrm>
          <a:prstGeom prst="rect">
            <a:avLst/>
          </a:prstGeom>
        </p:spPr>
      </p:pic>
      <p:sp>
        <p:nvSpPr>
          <p:cNvPr id="17" name="Feature text 1"/>
          <p:cNvSpPr txBox="1"/>
          <p:nvPr/>
        </p:nvSpPr>
        <p:spPr>
          <a:xfrm>
            <a:off x="1325880" y="3840480"/>
            <a:ext cx="2743200" cy="1463040"/>
          </a:xfrm>
          <a:prstGeom prst="rect">
            <a:avLst/>
          </a:prstGeom>
          <a:noFill/>
          <a:ln/>
        </p:spPr>
        <p:txBody>
          <a:bodyPr wrap="square" lIns="0" tIns="0" rIns="0" bIns="0" rtlCol="0" anchor="t"/>
          <a:lstStyle/>
          <a:p>
            <a:pPr indent="0" marL="0">
              <a:buNone/>
            </a:pPr>
            <a:r>
              <a:rPr lang="en-US" sz="1800" b="1" dirty="0">
                <a:solidFill>
                  <a:schemeClr val="tx1"/>
                </a:solidFill>
              </a:rPr>
              <a:t>Working shopping cart</a:t>
            </a:r>
            <a:endParaRPr lang="en-US" sz="1800" dirty="0"/>
          </a:p>
          <a:p>
            <a:pPr indent="0" marL="0">
              <a:buNone/>
            </a:pPr>
            <a:r>
              <a:rPr lang="en-US" sz="1400" dirty="0">
                <a:solidFill>
                  <a:schemeClr val="tx2"/>
                </a:solidFill>
              </a:rPr>
              <a:t>Items are saved in the browser and totals update instantly.</a:t>
            </a:r>
            <a:endParaRPr lang="en-US" sz="1800" dirty="0"/>
          </a:p>
        </p:txBody>
      </p:sp>
      <p:sp>
        <p:nvSpPr>
          <p:cNvPr id="18" name="Feature 2 circle"/>
          <p:cNvSpPr/>
          <p:nvPr/>
        </p:nvSpPr>
        <p:spPr>
          <a:xfrm>
            <a:off x="4297680" y="3931920"/>
            <a:ext cx="640080" cy="640080"/>
          </a:xfrm>
          <a:prstGeom prst="ellipse">
            <a:avLst/>
          </a:prstGeom>
          <a:solidFill>
            <a:schemeClr val="accent1"/>
          </a:solidFill>
          <a:ln w="12700">
            <a:solidFill>
              <a:schemeClr val="accent1"/>
            </a:solidFill>
            <a:prstDash val="solid"/>
          </a:ln>
        </p:spPr>
      </p:sp>
      <p:pic>
        <p:nvPicPr>
          <p:cNvPr id="19" name="Feature 2 icon" descr="Feature 2">    </p:cNvPr>
          <p:cNvPicPr>
            <a:picLocks noChangeAspect="1"/>
          </p:cNvPicPr>
          <p:nvPr/>
        </p:nvPicPr>
        <p:blipFill>
          <a:blip r:embed="rId2"/>
          <a:stretch>
            <a:fillRect/>
          </a:stretch>
        </p:blipFill>
        <p:spPr>
          <a:xfrm>
            <a:off x="4464101" y="4098341"/>
            <a:ext cx="307238" cy="307238"/>
          </a:xfrm>
          <a:prstGeom prst="rect">
            <a:avLst/>
          </a:prstGeom>
        </p:spPr>
      </p:pic>
      <p:sp>
        <p:nvSpPr>
          <p:cNvPr id="20" name="Feature text 2"/>
          <p:cNvSpPr txBox="1"/>
          <p:nvPr/>
        </p:nvSpPr>
        <p:spPr>
          <a:xfrm>
            <a:off x="5074920" y="3840480"/>
            <a:ext cx="2743200" cy="1463040"/>
          </a:xfrm>
          <a:prstGeom prst="rect">
            <a:avLst/>
          </a:prstGeom>
          <a:noFill/>
          <a:ln/>
        </p:spPr>
        <p:txBody>
          <a:bodyPr wrap="square" lIns="0" tIns="0" rIns="0" bIns="0" rtlCol="0" anchor="t"/>
          <a:lstStyle/>
          <a:p>
            <a:pPr indent="0" marL="0">
              <a:buNone/>
            </a:pPr>
            <a:r>
              <a:rPr lang="en-US" sz="1800" b="1" dirty="0">
                <a:solidFill>
                  <a:schemeClr val="tx1"/>
                </a:solidFill>
              </a:rPr>
              <a:t>Menu and gallery filters</a:t>
            </a:r>
            <a:endParaRPr lang="en-US" sz="1800" dirty="0"/>
          </a:p>
          <a:p>
            <a:pPr indent="0" marL="0">
              <a:buNone/>
            </a:pPr>
            <a:r>
              <a:rPr lang="en-US" sz="1400" dirty="0">
                <a:solidFill>
                  <a:schemeClr val="tx2"/>
                </a:solidFill>
              </a:rPr>
              <a:t>Visitors show one category at a time.</a:t>
            </a:r>
            <a:endParaRPr lang="en-US" sz="1800" dirty="0"/>
          </a:p>
        </p:txBody>
      </p:sp>
      <p:sp>
        <p:nvSpPr>
          <p:cNvPr id="21" name="Feature 3 circle"/>
          <p:cNvSpPr/>
          <p:nvPr/>
        </p:nvSpPr>
        <p:spPr>
          <a:xfrm>
            <a:off x="8046720" y="3931920"/>
            <a:ext cx="640080" cy="640080"/>
          </a:xfrm>
          <a:prstGeom prst="ellipse">
            <a:avLst/>
          </a:prstGeom>
          <a:solidFill>
            <a:schemeClr val="accent1"/>
          </a:solidFill>
          <a:ln w="12700">
            <a:solidFill>
              <a:schemeClr val="accent1"/>
            </a:solidFill>
            <a:prstDash val="solid"/>
          </a:ln>
        </p:spPr>
      </p:sp>
      <p:pic>
        <p:nvPicPr>
          <p:cNvPr id="22" name="Feature 3 icon" descr="Feature 3">    </p:cNvPr>
          <p:cNvPicPr>
            <a:picLocks noChangeAspect="1"/>
          </p:cNvPicPr>
          <p:nvPr/>
        </p:nvPicPr>
        <p:blipFill>
          <a:blip r:embed="rId3"/>
          <a:stretch>
            <a:fillRect/>
          </a:stretch>
        </p:blipFill>
        <p:spPr>
          <a:xfrm>
            <a:off x="8213141" y="4098341"/>
            <a:ext cx="307238" cy="307238"/>
          </a:xfrm>
          <a:prstGeom prst="rect">
            <a:avLst/>
          </a:prstGeom>
        </p:spPr>
      </p:pic>
      <p:sp>
        <p:nvSpPr>
          <p:cNvPr id="23" name="Feature text 3"/>
          <p:cNvSpPr txBox="1"/>
          <p:nvPr/>
        </p:nvSpPr>
        <p:spPr>
          <a:xfrm>
            <a:off x="8823960" y="3840480"/>
            <a:ext cx="2743200" cy="1463040"/>
          </a:xfrm>
          <a:prstGeom prst="rect">
            <a:avLst/>
          </a:prstGeom>
          <a:noFill/>
          <a:ln/>
        </p:spPr>
        <p:txBody>
          <a:bodyPr wrap="square" lIns="0" tIns="0" rIns="0" bIns="0" rtlCol="0" anchor="t"/>
          <a:lstStyle/>
          <a:p>
            <a:pPr indent="0" marL="0">
              <a:buNone/>
            </a:pPr>
            <a:r>
              <a:rPr lang="en-US" sz="1800" b="1" dirty="0">
                <a:solidFill>
                  <a:schemeClr val="tx1"/>
                </a:solidFill>
              </a:rPr>
              <a:t>Works on phone and desktop</a:t>
            </a:r>
            <a:endParaRPr lang="en-US" sz="1800" dirty="0"/>
          </a:p>
          <a:p>
            <a:pPr indent="0" marL="0">
              <a:buNone/>
            </a:pPr>
            <a:r>
              <a:rPr lang="en-US" sz="1400" dirty="0">
                <a:solidFill>
                  <a:schemeClr val="tx2"/>
                </a:solidFill>
              </a:rPr>
              <a:t>The layout adapts from a laptop screen down to a phone.</a:t>
            </a:r>
            <a:endParaRPr lang="en-US" sz="1800" dirty="0"/>
          </a:p>
        </p:txBody>
      </p:sp>
      <p:sp>
        <p:nvSpPr>
          <p:cNvPr id="24" name="Tech note"/>
          <p:cNvSpPr txBox="1"/>
          <p:nvPr/>
        </p:nvSpPr>
        <p:spPr>
          <a:xfrm>
            <a:off x="548640" y="5669280"/>
            <a:ext cx="10972800" cy="365760"/>
          </a:xfrm>
          <a:prstGeom prst="rect">
            <a:avLst/>
          </a:prstGeom>
          <a:noFill/>
          <a:ln/>
        </p:spPr>
        <p:txBody>
          <a:bodyPr wrap="square" lIns="0" tIns="0" rIns="0" bIns="0" rtlCol="0" anchor="ctr"/>
          <a:lstStyle/>
          <a:p>
            <a:pPr indent="0" marL="0">
              <a:buNone/>
            </a:pPr>
            <a:r>
              <a:rPr lang="en-US" sz="1400" dirty="0">
                <a:solidFill>
                  <a:schemeClr val="tx2"/>
                </a:solidFill>
              </a:rPr>
              <a:t>Built with HTML, CSS and JavaScript, plus Bootstrap 5. No server or build step is needed.</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Home page: first impression</a:t>
            </a:r>
            <a:endParaRPr lang="en-US" sz="3600" dirty="0"/>
          </a:p>
        </p:txBody>
      </p:sp>
      <p:pic>
        <p:nvPicPr>
          <p:cNvPr id="3" name="Home page screenshot" descr="Home page screenshot">    </p:cNvPr>
          <p:cNvPicPr>
            <a:picLocks noChangeAspect="1"/>
          </p:cNvPicPr>
          <p:nvPr/>
        </p:nvPicPr>
        <p:blipFill>
          <a:blip r:embed="rId1"/>
          <a:stretch>
            <a:fillRect/>
          </a:stretch>
        </p:blipFill>
        <p:spPr>
          <a:xfrm>
            <a:off x="548640" y="1463040"/>
            <a:ext cx="7223760" cy="4230606"/>
          </a:xfrm>
          <a:prstGeom prst="rect">
            <a:avLst/>
          </a:prstGeom>
          <a:effectLst>
            <a:outerShdw sx="100000" sy="100000" kx="0" ky="0" algn="bl" rotWithShape="0" blurRad="101600" dist="25400" dir="5400000">
              <a:srgbClr val="000000">
                <a:alpha val="22000"/>
              </a:srgbClr>
            </a:outerShdw>
          </a:effectLst>
        </p:spPr>
      </p:pic>
      <p:sp>
        <p:nvSpPr>
          <p:cNvPr id="4" name="Screenshot note"/>
          <p:cNvSpPr txBox="1"/>
          <p:nvPr/>
        </p:nvSpPr>
        <p:spPr>
          <a:xfrm>
            <a:off x="548640" y="5803374"/>
            <a:ext cx="7223760" cy="274320"/>
          </a:xfrm>
          <a:prstGeom prst="rect">
            <a:avLst/>
          </a:prstGeom>
          <a:noFill/>
          <a:ln/>
        </p:spPr>
        <p:txBody>
          <a:bodyPr wrap="square" lIns="0" tIns="0" rIns="0" bIns="0" rtlCol="0" anchor="ctr"/>
          <a:lstStyle/>
          <a:p>
            <a:pPr indent="0" marL="0">
              <a:buNone/>
            </a:pPr>
            <a:r>
              <a:rPr lang="en-US" sz="1100" i="1" dirty="0">
                <a:solidFill>
                  <a:srgbClr val="6F5D52"/>
                </a:solidFill>
              </a:rPr>
              <a:t>Photos load from the internet on the live site and show as the logo here.</a:t>
            </a:r>
            <a:endParaRPr lang="en-US" sz="1100" dirty="0"/>
          </a:p>
        </p:txBody>
      </p:sp>
      <p:sp>
        <p:nvSpPr>
          <p:cNvPr id="5" name="Home point 1"/>
          <p:cNvSpPr txBox="1"/>
          <p:nvPr/>
        </p:nvSpPr>
        <p:spPr>
          <a:xfrm>
            <a:off x="8138160" y="1463040"/>
            <a:ext cx="3520440" cy="1234440"/>
          </a:xfrm>
          <a:prstGeom prst="rect">
            <a:avLst/>
          </a:prstGeom>
          <a:noFill/>
          <a:ln/>
        </p:spPr>
        <p:txBody>
          <a:bodyPr wrap="square" lIns="0" tIns="0" rIns="0" bIns="0" rtlCol="0" anchor="t"/>
          <a:lstStyle/>
          <a:p>
            <a:pPr indent="0" marL="0">
              <a:buNone/>
            </a:pPr>
            <a:r>
              <a:rPr lang="en-US" sz="1800" b="1" dirty="0">
                <a:solidFill>
                  <a:schemeClr val="tx1"/>
                </a:solidFill>
              </a:rPr>
              <a:t>Sticky navbar</a:t>
            </a:r>
            <a:endParaRPr lang="en-US" sz="1800" dirty="0"/>
          </a:p>
          <a:p>
            <a:pPr indent="0" marL="0">
              <a:buNone/>
            </a:pPr>
            <a:r>
              <a:rPr lang="en-US" sz="1400" dirty="0">
                <a:solidFill>
                  <a:schemeClr val="tx2"/>
                </a:solidFill>
              </a:rPr>
              <a:t>Stays on screen and highlights the section you are in, with the cart always one tap away.</a:t>
            </a:r>
            <a:endParaRPr lang="en-US" sz="1800" dirty="0"/>
          </a:p>
        </p:txBody>
      </p:sp>
      <p:sp>
        <p:nvSpPr>
          <p:cNvPr id="6" name="Home point 2"/>
          <p:cNvSpPr txBox="1"/>
          <p:nvPr/>
        </p:nvSpPr>
        <p:spPr>
          <a:xfrm>
            <a:off x="8138160" y="2834640"/>
            <a:ext cx="3520440" cy="1234440"/>
          </a:xfrm>
          <a:prstGeom prst="rect">
            <a:avLst/>
          </a:prstGeom>
          <a:noFill/>
          <a:ln/>
        </p:spPr>
        <p:txBody>
          <a:bodyPr wrap="square" lIns="0" tIns="0" rIns="0" bIns="0" rtlCol="0" anchor="t"/>
          <a:lstStyle/>
          <a:p>
            <a:pPr indent="0" marL="0">
              <a:buNone/>
            </a:pPr>
            <a:r>
              <a:rPr lang="en-US" sz="1800" b="1" dirty="0">
                <a:solidFill>
                  <a:schemeClr val="tx1"/>
                </a:solidFill>
              </a:rPr>
              <a:t>Three-slide hero</a:t>
            </a:r>
            <a:endParaRPr lang="en-US" sz="1800" dirty="0"/>
          </a:p>
          <a:p>
            <a:pPr indent="0" marL="0">
              <a:buNone/>
            </a:pPr>
            <a:r>
              <a:rPr lang="en-US" sz="1400" dirty="0">
                <a:solidFill>
                  <a:schemeClr val="tx2"/>
                </a:solidFill>
              </a:rPr>
              <a:t>Changes every 5 seconds. Order Now goes to categories, View Menu goes to the menu.</a:t>
            </a:r>
            <a:endParaRPr lang="en-US" sz="1800" dirty="0"/>
          </a:p>
        </p:txBody>
      </p:sp>
      <p:sp>
        <p:nvSpPr>
          <p:cNvPr id="7" name="Home point 3"/>
          <p:cNvSpPr txBox="1"/>
          <p:nvPr/>
        </p:nvSpPr>
        <p:spPr>
          <a:xfrm>
            <a:off x="8138160" y="4206240"/>
            <a:ext cx="3520440" cy="1234440"/>
          </a:xfrm>
          <a:prstGeom prst="rect">
            <a:avLst/>
          </a:prstGeom>
          <a:noFill/>
          <a:ln/>
        </p:spPr>
        <p:txBody>
          <a:bodyPr wrap="square" lIns="0" tIns="0" rIns="0" bIns="0" rtlCol="0" anchor="t"/>
          <a:lstStyle/>
          <a:p>
            <a:pPr indent="0" marL="0">
              <a:buNone/>
            </a:pPr>
            <a:r>
              <a:rPr lang="en-US" sz="1800" b="1" dirty="0">
                <a:solidFill>
                  <a:schemeClr val="tx1"/>
                </a:solidFill>
              </a:rPr>
              <a:t>Clear next step</a:t>
            </a:r>
            <a:endParaRPr lang="en-US" sz="1800" dirty="0"/>
          </a:p>
          <a:p>
            <a:pPr indent="0" marL="0">
              <a:buNone/>
            </a:pPr>
            <a:r>
              <a:rPr lang="en-US" sz="1400" dirty="0">
                <a:solidFill>
                  <a:schemeClr val="tx2"/>
                </a:solidFill>
              </a:rPr>
              <a:t>Every slide has two buttons, so a visitor never has to hunt for how to order.</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Browse by category or the full menu</a:t>
            </a:r>
            <a:endParaRPr lang="en-US" sz="3600" dirty="0"/>
          </a:p>
        </p:txBody>
      </p:sp>
      <p:pic>
        <p:nvPicPr>
          <p:cNvPr id="3" name="Categories screenshot" descr="Categories screenshot">    </p:cNvPr>
          <p:cNvPicPr>
            <a:picLocks noChangeAspect="1"/>
          </p:cNvPicPr>
          <p:nvPr/>
        </p:nvPicPr>
        <p:blipFill>
          <a:blip r:embed="rId1"/>
          <a:stretch>
            <a:fillRect/>
          </a:stretch>
        </p:blipFill>
        <p:spPr>
          <a:xfrm>
            <a:off x="548640" y="1463040"/>
            <a:ext cx="5349240" cy="3485230"/>
          </a:xfrm>
          <a:prstGeom prst="rect">
            <a:avLst/>
          </a:prstGeom>
          <a:effectLst>
            <a:outerShdw sx="100000" sy="100000" kx="0" ky="0" algn="bl" rotWithShape="0" blurRad="101600" dist="25400" dir="5400000">
              <a:srgbClr val="000000">
                <a:alpha val="22000"/>
              </a:srgbClr>
            </a:outerShdw>
          </a:effectLst>
        </p:spPr>
      </p:pic>
      <p:pic>
        <p:nvPicPr>
          <p:cNvPr id="4" name="Menu screenshot" descr="Menu screenshot">    </p:cNvPr>
          <p:cNvPicPr>
            <a:picLocks noChangeAspect="1"/>
          </p:cNvPicPr>
          <p:nvPr/>
        </p:nvPicPr>
        <p:blipFill>
          <a:blip r:embed="rId2"/>
          <a:stretch>
            <a:fillRect/>
          </a:stretch>
        </p:blipFill>
        <p:spPr>
          <a:xfrm>
            <a:off x="6291072" y="1463040"/>
            <a:ext cx="5349240" cy="3132791"/>
          </a:xfrm>
          <a:prstGeom prst="rect">
            <a:avLst/>
          </a:prstGeom>
          <a:effectLst>
            <a:outerShdw sx="100000" sy="100000" kx="0" ky="0" algn="bl" rotWithShape="0" blurRad="101600" dist="25400" dir="5400000">
              <a:srgbClr val="000000">
                <a:alpha val="22000"/>
              </a:srgbClr>
            </a:outerShdw>
          </a:effectLst>
        </p:spPr>
      </p:pic>
      <p:sp>
        <p:nvSpPr>
          <p:cNvPr id="5" name="Categories caption"/>
          <p:cNvSpPr txBox="1"/>
          <p:nvPr/>
        </p:nvSpPr>
        <p:spPr>
          <a:xfrm>
            <a:off x="548640" y="5057998"/>
            <a:ext cx="5349240" cy="457200"/>
          </a:xfrm>
          <a:prstGeom prst="rect">
            <a:avLst/>
          </a:prstGeom>
          <a:noFill/>
          <a:ln/>
        </p:spPr>
        <p:txBody>
          <a:bodyPr wrap="square" lIns="0" tIns="0" rIns="0" bIns="0" rtlCol="0" anchor="ctr"/>
          <a:lstStyle/>
          <a:p>
            <a:pPr indent="0" marL="0">
              <a:buNone/>
            </a:pPr>
            <a:r>
              <a:rPr lang="en-US" sz="1400" dirty="0">
                <a:solidFill>
                  <a:schemeClr val="tx2"/>
                </a:solidFill>
              </a:rPr>
              <a:t>Four category cards with starting prices and Add to Cart</a:t>
            </a:r>
            <a:endParaRPr lang="en-US" sz="1400" dirty="0"/>
          </a:p>
        </p:txBody>
      </p:sp>
      <p:sp>
        <p:nvSpPr>
          <p:cNvPr id="6" name="Menu caption"/>
          <p:cNvSpPr txBox="1"/>
          <p:nvPr/>
        </p:nvSpPr>
        <p:spPr>
          <a:xfrm>
            <a:off x="6291072" y="5057998"/>
            <a:ext cx="5349240" cy="457200"/>
          </a:xfrm>
          <a:prstGeom prst="rect">
            <a:avLst/>
          </a:prstGeom>
          <a:noFill/>
          <a:ln/>
        </p:spPr>
        <p:txBody>
          <a:bodyPr wrap="square" lIns="0" tIns="0" rIns="0" bIns="0" rtlCol="0" anchor="ctr"/>
          <a:lstStyle/>
          <a:p>
            <a:pPr indent="0" marL="0">
              <a:buNone/>
            </a:pPr>
            <a:r>
              <a:rPr lang="en-US" sz="1400" dirty="0">
                <a:solidFill>
                  <a:schemeClr val="tx2"/>
                </a:solidFill>
              </a:rPr>
              <a:t>Menu with filter buttons. Each item has its own Add to Cart</a:t>
            </a:r>
            <a:endParaRPr lang="en-US" sz="1400" dirty="0"/>
          </a:p>
        </p:txBody>
      </p:sp>
      <p:sp>
        <p:nvSpPr>
          <p:cNvPr id="7" name="Takeaway"/>
          <p:cNvSpPr txBox="1"/>
          <p:nvPr/>
        </p:nvSpPr>
        <p:spPr>
          <a:xfrm>
            <a:off x="548640" y="5852160"/>
            <a:ext cx="10972800" cy="411480"/>
          </a:xfrm>
          <a:prstGeom prst="rect">
            <a:avLst/>
          </a:prstGeom>
          <a:noFill/>
          <a:ln/>
        </p:spPr>
        <p:txBody>
          <a:bodyPr wrap="square" lIns="0" tIns="0" rIns="0" bIns="0" rtlCol="0" anchor="ctr"/>
          <a:lstStyle/>
          <a:p>
            <a:pPr indent="0" marL="0">
              <a:buNone/>
            </a:pPr>
            <a:r>
              <a:rPr lang="en-US" sz="1600" b="1" dirty="0">
                <a:solidFill>
                  <a:schemeClr val="tx1"/>
                </a:solidFill>
              </a:rPr>
              <a:t>Starting prices on the category cards now follow the real menu prices.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The menu in numbers</a:t>
            </a:r>
            <a:endParaRPr lang="en-US" sz="3600" dirty="0"/>
          </a:p>
        </p:txBody>
      </p:sp>
      <p:graphicFrame>
        <p:nvGraphicFramePr>
          <p:cNvPr id="3" name="Items per category chart" descr=""/>
          <p:cNvGraphicFramePr/>
          <p:nvPr/>
        </p:nvGraphicFramePr>
        <p:xfrm>
          <a:off x="548640" y="1371600"/>
          <a:ext cx="53949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Price range chart" descr=""/>
          <p:cNvGraphicFramePr/>
          <p:nvPr/>
        </p:nvGraphicFramePr>
        <p:xfrm>
          <a:off x="6217920" y="1371600"/>
          <a:ext cx="5394960" cy="3931920"/>
        </p:xfrm>
        <a:graphic xmlns:a="http://schemas.openxmlformats.org/drawingml/2006/main">
          <a:graphicData uri="http://schemas.openxmlformats.org/drawingml/2006/chart">
            <c:chart xmlns:c="http://schemas.openxmlformats.org/drawingml/2006/chart" r:id="rId2"/>
          </a:graphicData>
        </a:graphic>
      </p:graphicFrame>
      <p:sp>
        <p:nvSpPr>
          <p:cNvPr id="5" name="Chart takeaway"/>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600" b="1" dirty="0">
                <a:solidFill>
                  <a:schemeClr val="tx1"/>
                </a:solidFill>
              </a:rPr>
              <a:t>Cakes are 27% of the menu. Pastries all cost Rs. 2,500, and sweets and patties all cost Rs. 100.</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From cart to confirmed order</a:t>
            </a:r>
            <a:endParaRPr lang="en-US" sz="3600" dirty="0"/>
          </a:p>
        </p:txBody>
      </p:sp>
      <p:pic>
        <p:nvPicPr>
          <p:cNvPr id="3" name="cart screenshot" descr="cart screenshot">    </p:cNvPr>
          <p:cNvPicPr>
            <a:picLocks noChangeAspect="1"/>
          </p:cNvPicPr>
          <p:nvPr/>
        </p:nvPicPr>
        <p:blipFill>
          <a:blip r:embed="rId1"/>
          <a:stretch>
            <a:fillRect/>
          </a:stretch>
        </p:blipFill>
        <p:spPr>
          <a:xfrm>
            <a:off x="1099508" y="1417320"/>
            <a:ext cx="1961388" cy="3566160"/>
          </a:xfrm>
          <a:prstGeom prst="rect">
            <a:avLst/>
          </a:prstGeom>
          <a:effectLst>
            <a:outerShdw sx="100000" sy="100000" kx="0" ky="0" algn="bl" rotWithShape="0" blurRad="101600" dist="25400" dir="5400000">
              <a:srgbClr val="000000">
                <a:alpha val="22000"/>
              </a:srgbClr>
            </a:outerShdw>
          </a:effectLst>
        </p:spPr>
      </p:pic>
      <p:sp>
        <p:nvSpPr>
          <p:cNvPr id="4" name="cart caption"/>
          <p:cNvSpPr txBox="1"/>
          <p:nvPr/>
        </p:nvSpPr>
        <p:spPr>
          <a:xfrm>
            <a:off x="1099508" y="5120640"/>
            <a:ext cx="1961388" cy="548640"/>
          </a:xfrm>
          <a:prstGeom prst="rect">
            <a:avLst/>
          </a:prstGeom>
          <a:noFill/>
          <a:ln/>
        </p:spPr>
        <p:txBody>
          <a:bodyPr wrap="square" lIns="0" tIns="0" rIns="0" bIns="0" rtlCol="0" anchor="t"/>
          <a:lstStyle/>
          <a:p>
            <a:pPr indent="0" marL="0">
              <a:buNone/>
            </a:pPr>
            <a:r>
              <a:rPr lang="en-US" sz="1300" dirty="0">
                <a:solidFill>
                  <a:schemeClr val="tx2"/>
                </a:solidFill>
              </a:rPr>
              <a:t>Cart: quantity controls, delivery and total</a:t>
            </a:r>
            <a:endParaRPr lang="en-US" sz="1300" dirty="0"/>
          </a:p>
        </p:txBody>
      </p:sp>
      <p:pic>
        <p:nvPicPr>
          <p:cNvPr id="5" name="checkout screenshot" descr="checkout screenshot">    </p:cNvPr>
          <p:cNvPicPr>
            <a:picLocks noChangeAspect="1"/>
          </p:cNvPicPr>
          <p:nvPr/>
        </p:nvPicPr>
        <p:blipFill>
          <a:blip r:embed="rId2"/>
          <a:stretch>
            <a:fillRect/>
          </a:stretch>
        </p:blipFill>
        <p:spPr>
          <a:xfrm>
            <a:off x="3472376" y="1417320"/>
            <a:ext cx="2909987" cy="3566160"/>
          </a:xfrm>
          <a:prstGeom prst="rect">
            <a:avLst/>
          </a:prstGeom>
          <a:effectLst>
            <a:outerShdw sx="100000" sy="100000" kx="0" ky="0" algn="bl" rotWithShape="0" blurRad="101600" dist="25400" dir="5400000">
              <a:srgbClr val="000000">
                <a:alpha val="22000"/>
              </a:srgbClr>
            </a:outerShdw>
          </a:effectLst>
        </p:spPr>
      </p:pic>
      <p:sp>
        <p:nvSpPr>
          <p:cNvPr id="6" name="checkout caption"/>
          <p:cNvSpPr txBox="1"/>
          <p:nvPr/>
        </p:nvSpPr>
        <p:spPr>
          <a:xfrm>
            <a:off x="3472376" y="5120640"/>
            <a:ext cx="2909987" cy="548640"/>
          </a:xfrm>
          <a:prstGeom prst="rect">
            <a:avLst/>
          </a:prstGeom>
          <a:noFill/>
          <a:ln/>
        </p:spPr>
        <p:txBody>
          <a:bodyPr wrap="square" lIns="0" tIns="0" rIns="0" bIns="0" rtlCol="0" anchor="t"/>
          <a:lstStyle/>
          <a:p>
            <a:pPr indent="0" marL="0">
              <a:buNone/>
            </a:pPr>
            <a:r>
              <a:rPr lang="en-US" sz="1300" dirty="0">
                <a:solidFill>
                  <a:schemeClr val="tx2"/>
                </a:solidFill>
              </a:rPr>
              <a:t>Checkout: name, phone, address, payment</a:t>
            </a:r>
            <a:endParaRPr lang="en-US" sz="1300" dirty="0"/>
          </a:p>
        </p:txBody>
      </p:sp>
      <p:pic>
        <p:nvPicPr>
          <p:cNvPr id="7" name="success screenshot" descr="success screenshot">    </p:cNvPr>
          <p:cNvPicPr>
            <a:picLocks noChangeAspect="1"/>
          </p:cNvPicPr>
          <p:nvPr/>
        </p:nvPicPr>
        <p:blipFill>
          <a:blip r:embed="rId3"/>
          <a:stretch>
            <a:fillRect/>
          </a:stretch>
        </p:blipFill>
        <p:spPr>
          <a:xfrm>
            <a:off x="6793842" y="1417320"/>
            <a:ext cx="4295602" cy="3566160"/>
          </a:xfrm>
          <a:prstGeom prst="rect">
            <a:avLst/>
          </a:prstGeom>
          <a:effectLst>
            <a:outerShdw sx="100000" sy="100000" kx="0" ky="0" algn="bl" rotWithShape="0" blurRad="101600" dist="25400" dir="5400000">
              <a:srgbClr val="000000">
                <a:alpha val="22000"/>
              </a:srgbClr>
            </a:outerShdw>
          </a:effectLst>
        </p:spPr>
      </p:pic>
      <p:sp>
        <p:nvSpPr>
          <p:cNvPr id="8" name="success caption"/>
          <p:cNvSpPr txBox="1"/>
          <p:nvPr/>
        </p:nvSpPr>
        <p:spPr>
          <a:xfrm>
            <a:off x="6793842" y="5120640"/>
            <a:ext cx="4295602" cy="548640"/>
          </a:xfrm>
          <a:prstGeom prst="rect">
            <a:avLst/>
          </a:prstGeom>
          <a:noFill/>
          <a:ln/>
        </p:spPr>
        <p:txBody>
          <a:bodyPr wrap="square" lIns="0" tIns="0" rIns="0" bIns="0" rtlCol="0" anchor="t"/>
          <a:lstStyle/>
          <a:p>
            <a:pPr indent="0" marL="0">
              <a:buNone/>
            </a:pPr>
            <a:r>
              <a:rPr lang="en-US" sz="1300" dirty="0">
                <a:solidFill>
                  <a:schemeClr val="tx2"/>
                </a:solidFill>
              </a:rPr>
              <a:t>Order placed with an order number</a:t>
            </a:r>
            <a:endParaRPr lang="en-US" sz="1300" dirty="0"/>
          </a:p>
        </p:txBody>
      </p:sp>
      <p:sp>
        <p:nvSpPr>
          <p:cNvPr id="9" name="Delivery rule"/>
          <p:cNvSpPr txBox="1"/>
          <p:nvPr/>
        </p:nvSpPr>
        <p:spPr>
          <a:xfrm>
            <a:off x="548640" y="5806440"/>
            <a:ext cx="10972800" cy="411480"/>
          </a:xfrm>
          <a:prstGeom prst="rect">
            <a:avLst/>
          </a:prstGeom>
          <a:noFill/>
          <a:ln/>
        </p:spPr>
        <p:txBody>
          <a:bodyPr wrap="square" lIns="0" tIns="0" rIns="0" bIns="0" rtlCol="0" anchor="ctr"/>
          <a:lstStyle/>
          <a:p>
            <a:pPr indent="0" marL="0">
              <a:buNone/>
            </a:pPr>
            <a:r>
              <a:rPr lang="en-US" sz="1600" b="1" dirty="0">
                <a:solidFill>
                  <a:schemeClr val="tx1"/>
                </a:solidFill>
              </a:rPr>
              <a:t>Delivery is Rs. 150, and free when the subtotal reaches Rs. 2,000.</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How an order flows</a:t>
            </a:r>
            <a:endParaRPr lang="en-US" sz="3600" dirty="0"/>
          </a:p>
        </p:txBody>
      </p:sp>
      <p:sp>
        <p:nvSpPr>
          <p:cNvPr id="3" name="Step circle 1"/>
          <p:cNvSpPr/>
          <p:nvPr/>
        </p:nvSpPr>
        <p:spPr>
          <a:xfrm>
            <a:off x="548640" y="1645920"/>
            <a:ext cx="731520" cy="731520"/>
          </a:xfrm>
          <a:prstGeom prst="ellipse">
            <a:avLst/>
          </a:prstGeom>
          <a:solidFill>
            <a:schemeClr val="accent1"/>
          </a:solidFill>
          <a:ln w="12700">
            <a:solidFill>
              <a:schemeClr val="accent1"/>
            </a:solidFill>
            <a:prstDash val="solid"/>
          </a:ln>
        </p:spPr>
      </p:sp>
      <p:sp>
        <p:nvSpPr>
          <p:cNvPr id="4" name="Step number 1"/>
          <p:cNvSpPr txBox="1"/>
          <p:nvPr/>
        </p:nvSpPr>
        <p:spPr>
          <a:xfrm>
            <a:off x="548640" y="164592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a:t>
            </a:r>
            <a:endParaRPr lang="en-US" sz="2600" dirty="0"/>
          </a:p>
        </p:txBody>
      </p:sp>
      <p:sp>
        <p:nvSpPr>
          <p:cNvPr id="5" name="Step arrow 1"/>
          <p:cNvSpPr/>
          <p:nvPr/>
        </p:nvSpPr>
        <p:spPr>
          <a:xfrm>
            <a:off x="1417320" y="2011680"/>
            <a:ext cx="1264158" cy="0"/>
          </a:xfrm>
          <a:prstGeom prst="line">
            <a:avLst/>
          </a:prstGeom>
          <a:noFill/>
          <a:ln w="19050">
            <a:solidFill>
              <a:srgbClr val="B9792F"/>
            </a:solidFill>
            <a:prstDash val="solid"/>
            <a:tailEnd type="triangle"/>
          </a:ln>
        </p:spPr>
      </p:sp>
      <p:sp>
        <p:nvSpPr>
          <p:cNvPr id="6" name="Step text 1"/>
          <p:cNvSpPr txBox="1"/>
          <p:nvPr/>
        </p:nvSpPr>
        <p:spPr>
          <a:xfrm>
            <a:off x="548640" y="2606040"/>
            <a:ext cx="2011680" cy="1463040"/>
          </a:xfrm>
          <a:prstGeom prst="rect">
            <a:avLst/>
          </a:prstGeom>
          <a:noFill/>
          <a:ln/>
        </p:spPr>
        <p:txBody>
          <a:bodyPr wrap="square" lIns="0" tIns="0" rIns="0" bIns="0" rtlCol="0" anchor="t"/>
          <a:lstStyle/>
          <a:p>
            <a:pPr indent="0" marL="0">
              <a:buNone/>
            </a:pPr>
            <a:r>
              <a:rPr lang="en-US" sz="1800" b="1" dirty="0">
                <a:solidFill>
                  <a:schemeClr val="tx1"/>
                </a:solidFill>
              </a:rPr>
              <a:t>Add to cart</a:t>
            </a:r>
            <a:endParaRPr lang="en-US" sz="1800" dirty="0"/>
          </a:p>
          <a:p>
            <a:pPr indent="0" marL="0">
              <a:buNone/>
            </a:pPr>
            <a:r>
              <a:rPr lang="en-US" sz="1400" dirty="0">
                <a:solidFill>
                  <a:schemeClr val="tx2"/>
                </a:solidFill>
              </a:rPr>
              <a:t>The visitor taps Add to Cart and the drawer opens.</a:t>
            </a:r>
            <a:endParaRPr lang="en-US" sz="1800" dirty="0"/>
          </a:p>
        </p:txBody>
      </p:sp>
      <p:sp>
        <p:nvSpPr>
          <p:cNvPr id="7" name="Step circle 2"/>
          <p:cNvSpPr/>
          <p:nvPr/>
        </p:nvSpPr>
        <p:spPr>
          <a:xfrm>
            <a:off x="2818638" y="1645920"/>
            <a:ext cx="731520" cy="731520"/>
          </a:xfrm>
          <a:prstGeom prst="ellipse">
            <a:avLst/>
          </a:prstGeom>
          <a:solidFill>
            <a:schemeClr val="accent1"/>
          </a:solidFill>
          <a:ln w="12700">
            <a:solidFill>
              <a:schemeClr val="accent1"/>
            </a:solidFill>
            <a:prstDash val="solid"/>
          </a:ln>
        </p:spPr>
      </p:sp>
      <p:sp>
        <p:nvSpPr>
          <p:cNvPr id="8" name="Step number 2"/>
          <p:cNvSpPr txBox="1"/>
          <p:nvPr/>
        </p:nvSpPr>
        <p:spPr>
          <a:xfrm>
            <a:off x="2818638" y="164592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2</a:t>
            </a:r>
            <a:endParaRPr lang="en-US" sz="2600" dirty="0"/>
          </a:p>
        </p:txBody>
      </p:sp>
      <p:sp>
        <p:nvSpPr>
          <p:cNvPr id="9" name="Step arrow 2"/>
          <p:cNvSpPr/>
          <p:nvPr/>
        </p:nvSpPr>
        <p:spPr>
          <a:xfrm>
            <a:off x="3687318" y="2011680"/>
            <a:ext cx="1264158" cy="0"/>
          </a:xfrm>
          <a:prstGeom prst="line">
            <a:avLst/>
          </a:prstGeom>
          <a:noFill/>
          <a:ln w="19050">
            <a:solidFill>
              <a:srgbClr val="B9792F"/>
            </a:solidFill>
            <a:prstDash val="solid"/>
            <a:tailEnd type="triangle"/>
          </a:ln>
        </p:spPr>
      </p:sp>
      <p:sp>
        <p:nvSpPr>
          <p:cNvPr id="10" name="Step text 2"/>
          <p:cNvSpPr txBox="1"/>
          <p:nvPr/>
        </p:nvSpPr>
        <p:spPr>
          <a:xfrm>
            <a:off x="2818638" y="2606040"/>
            <a:ext cx="2011680" cy="1463040"/>
          </a:xfrm>
          <a:prstGeom prst="rect">
            <a:avLst/>
          </a:prstGeom>
          <a:noFill/>
          <a:ln/>
        </p:spPr>
        <p:txBody>
          <a:bodyPr wrap="square" lIns="0" tIns="0" rIns="0" bIns="0" rtlCol="0" anchor="t"/>
          <a:lstStyle/>
          <a:p>
            <a:pPr indent="0" marL="0">
              <a:buNone/>
            </a:pPr>
            <a:r>
              <a:rPr lang="en-US" sz="1800" b="1" dirty="0">
                <a:solidFill>
                  <a:schemeClr val="tx1"/>
                </a:solidFill>
              </a:rPr>
              <a:t>Delivery added</a:t>
            </a:r>
            <a:endParaRPr lang="en-US" sz="1800" dirty="0"/>
          </a:p>
          <a:p>
            <a:pPr indent="0" marL="0">
              <a:buNone/>
            </a:pPr>
            <a:r>
              <a:rPr lang="en-US" sz="1400" dirty="0">
                <a:solidFill>
                  <a:schemeClr val="tx2"/>
                </a:solidFill>
              </a:rPr>
              <a:t>Rs. 150, or free from Rs. 2,000.</a:t>
            </a:r>
            <a:endParaRPr lang="en-US" sz="1800" dirty="0"/>
          </a:p>
        </p:txBody>
      </p:sp>
      <p:sp>
        <p:nvSpPr>
          <p:cNvPr id="11" name="Step circle 3"/>
          <p:cNvSpPr/>
          <p:nvPr/>
        </p:nvSpPr>
        <p:spPr>
          <a:xfrm>
            <a:off x="5088636" y="1645920"/>
            <a:ext cx="731520" cy="731520"/>
          </a:xfrm>
          <a:prstGeom prst="ellipse">
            <a:avLst/>
          </a:prstGeom>
          <a:solidFill>
            <a:schemeClr val="accent1"/>
          </a:solidFill>
          <a:ln w="12700">
            <a:solidFill>
              <a:schemeClr val="accent1"/>
            </a:solidFill>
            <a:prstDash val="solid"/>
          </a:ln>
        </p:spPr>
      </p:sp>
      <p:sp>
        <p:nvSpPr>
          <p:cNvPr id="12" name="Step number 3"/>
          <p:cNvSpPr txBox="1"/>
          <p:nvPr/>
        </p:nvSpPr>
        <p:spPr>
          <a:xfrm>
            <a:off x="5088636" y="164592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3</a:t>
            </a:r>
            <a:endParaRPr lang="en-US" sz="2600" dirty="0"/>
          </a:p>
        </p:txBody>
      </p:sp>
      <p:sp>
        <p:nvSpPr>
          <p:cNvPr id="13" name="Step arrow 3"/>
          <p:cNvSpPr/>
          <p:nvPr/>
        </p:nvSpPr>
        <p:spPr>
          <a:xfrm>
            <a:off x="5957316" y="2011680"/>
            <a:ext cx="1264158" cy="0"/>
          </a:xfrm>
          <a:prstGeom prst="line">
            <a:avLst/>
          </a:prstGeom>
          <a:noFill/>
          <a:ln w="19050">
            <a:solidFill>
              <a:srgbClr val="B9792F"/>
            </a:solidFill>
            <a:prstDash val="solid"/>
            <a:tailEnd type="triangle"/>
          </a:ln>
        </p:spPr>
      </p:sp>
      <p:sp>
        <p:nvSpPr>
          <p:cNvPr id="14" name="Step text 3"/>
          <p:cNvSpPr txBox="1"/>
          <p:nvPr/>
        </p:nvSpPr>
        <p:spPr>
          <a:xfrm>
            <a:off x="5088636" y="2606040"/>
            <a:ext cx="2011680" cy="1463040"/>
          </a:xfrm>
          <a:prstGeom prst="rect">
            <a:avLst/>
          </a:prstGeom>
          <a:noFill/>
          <a:ln/>
        </p:spPr>
        <p:txBody>
          <a:bodyPr wrap="square" lIns="0" tIns="0" rIns="0" bIns="0" rtlCol="0" anchor="t"/>
          <a:lstStyle/>
          <a:p>
            <a:pPr indent="0" marL="0">
              <a:buNone/>
            </a:pPr>
            <a:r>
              <a:rPr lang="en-US" sz="1800" b="1" dirty="0">
                <a:solidFill>
                  <a:schemeClr val="tx1"/>
                </a:solidFill>
              </a:rPr>
              <a:t>Checkout</a:t>
            </a:r>
            <a:endParaRPr lang="en-US" sz="1800" dirty="0"/>
          </a:p>
          <a:p>
            <a:pPr indent="0" marL="0">
              <a:buNone/>
            </a:pPr>
            <a:r>
              <a:rPr lang="en-US" sz="1400" dirty="0">
                <a:solidFill>
                  <a:schemeClr val="tx2"/>
                </a:solidFill>
              </a:rPr>
              <a:t>Name, phone, address and payment method.</a:t>
            </a:r>
            <a:endParaRPr lang="en-US" sz="1800" dirty="0"/>
          </a:p>
        </p:txBody>
      </p:sp>
      <p:sp>
        <p:nvSpPr>
          <p:cNvPr id="15" name="Step circle 4"/>
          <p:cNvSpPr/>
          <p:nvPr/>
        </p:nvSpPr>
        <p:spPr>
          <a:xfrm>
            <a:off x="7358634" y="1645920"/>
            <a:ext cx="731520" cy="731520"/>
          </a:xfrm>
          <a:prstGeom prst="ellipse">
            <a:avLst/>
          </a:prstGeom>
          <a:solidFill>
            <a:schemeClr val="accent1"/>
          </a:solidFill>
          <a:ln w="12700">
            <a:solidFill>
              <a:schemeClr val="accent1"/>
            </a:solidFill>
            <a:prstDash val="solid"/>
          </a:ln>
        </p:spPr>
      </p:sp>
      <p:sp>
        <p:nvSpPr>
          <p:cNvPr id="16" name="Step number 4"/>
          <p:cNvSpPr txBox="1"/>
          <p:nvPr/>
        </p:nvSpPr>
        <p:spPr>
          <a:xfrm>
            <a:off x="7358634" y="164592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4</a:t>
            </a:r>
            <a:endParaRPr lang="en-US" sz="2600" dirty="0"/>
          </a:p>
        </p:txBody>
      </p:sp>
      <p:sp>
        <p:nvSpPr>
          <p:cNvPr id="17" name="Step arrow 4"/>
          <p:cNvSpPr/>
          <p:nvPr/>
        </p:nvSpPr>
        <p:spPr>
          <a:xfrm>
            <a:off x="8227314" y="2011680"/>
            <a:ext cx="1264158" cy="0"/>
          </a:xfrm>
          <a:prstGeom prst="line">
            <a:avLst/>
          </a:prstGeom>
          <a:noFill/>
          <a:ln w="19050">
            <a:solidFill>
              <a:srgbClr val="B9792F"/>
            </a:solidFill>
            <a:prstDash val="solid"/>
            <a:tailEnd type="triangle"/>
          </a:ln>
        </p:spPr>
      </p:sp>
      <p:sp>
        <p:nvSpPr>
          <p:cNvPr id="18" name="Step text 4"/>
          <p:cNvSpPr txBox="1"/>
          <p:nvPr/>
        </p:nvSpPr>
        <p:spPr>
          <a:xfrm>
            <a:off x="7358634" y="2606040"/>
            <a:ext cx="2011680" cy="1463040"/>
          </a:xfrm>
          <a:prstGeom prst="rect">
            <a:avLst/>
          </a:prstGeom>
          <a:noFill/>
          <a:ln/>
        </p:spPr>
        <p:txBody>
          <a:bodyPr wrap="square" lIns="0" tIns="0" rIns="0" bIns="0" rtlCol="0" anchor="t"/>
          <a:lstStyle/>
          <a:p>
            <a:pPr indent="0" marL="0">
              <a:buNone/>
            </a:pPr>
            <a:r>
              <a:rPr lang="en-US" sz="1800" b="1" dirty="0">
                <a:solidFill>
                  <a:schemeClr val="tx1"/>
                </a:solidFill>
              </a:rPr>
              <a:t>Place order</a:t>
            </a:r>
            <a:endParaRPr lang="en-US" sz="1800" dirty="0"/>
          </a:p>
          <a:p>
            <a:pPr indent="0" marL="0">
              <a:buNone/>
            </a:pPr>
            <a:r>
              <a:rPr lang="en-US" sz="1400" dirty="0">
                <a:solidFill>
                  <a:schemeClr val="tx2"/>
                </a:solidFill>
              </a:rPr>
              <a:t>The order gets a number such as AK-270779.</a:t>
            </a:r>
            <a:endParaRPr lang="en-US" sz="1800" dirty="0"/>
          </a:p>
        </p:txBody>
      </p:sp>
      <p:sp>
        <p:nvSpPr>
          <p:cNvPr id="19" name="Step circle 5"/>
          <p:cNvSpPr/>
          <p:nvPr/>
        </p:nvSpPr>
        <p:spPr>
          <a:xfrm>
            <a:off x="9628632" y="1645920"/>
            <a:ext cx="731520" cy="731520"/>
          </a:xfrm>
          <a:prstGeom prst="ellipse">
            <a:avLst/>
          </a:prstGeom>
          <a:solidFill>
            <a:schemeClr val="accent1"/>
          </a:solidFill>
          <a:ln w="12700">
            <a:solidFill>
              <a:schemeClr val="accent1"/>
            </a:solidFill>
            <a:prstDash val="solid"/>
          </a:ln>
        </p:spPr>
      </p:sp>
      <p:sp>
        <p:nvSpPr>
          <p:cNvPr id="20" name="Step number 5"/>
          <p:cNvSpPr txBox="1"/>
          <p:nvPr/>
        </p:nvSpPr>
        <p:spPr>
          <a:xfrm>
            <a:off x="9628632" y="164592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5</a:t>
            </a:r>
            <a:endParaRPr lang="en-US" sz="2600" dirty="0"/>
          </a:p>
        </p:txBody>
      </p:sp>
      <p:sp>
        <p:nvSpPr>
          <p:cNvPr id="21" name="Step text 5"/>
          <p:cNvSpPr txBox="1"/>
          <p:nvPr/>
        </p:nvSpPr>
        <p:spPr>
          <a:xfrm>
            <a:off x="9628632" y="2606040"/>
            <a:ext cx="2011680" cy="1463040"/>
          </a:xfrm>
          <a:prstGeom prst="rect">
            <a:avLst/>
          </a:prstGeom>
          <a:noFill/>
          <a:ln/>
        </p:spPr>
        <p:txBody>
          <a:bodyPr wrap="square" lIns="0" tIns="0" rIns="0" bIns="0" rtlCol="0" anchor="t"/>
          <a:lstStyle/>
          <a:p>
            <a:pPr indent="0" marL="0">
              <a:buNone/>
            </a:pPr>
            <a:r>
              <a:rPr lang="en-US" sz="1800" b="1" dirty="0">
                <a:solidFill>
                  <a:schemeClr val="tx1"/>
                </a:solidFill>
              </a:rPr>
              <a:t>Send on WhatsApp</a:t>
            </a:r>
            <a:endParaRPr lang="en-US" sz="1800" dirty="0"/>
          </a:p>
          <a:p>
            <a:pPr indent="0" marL="0">
              <a:buNone/>
            </a:pPr>
            <a:r>
              <a:rPr lang="en-US" sz="1400" dirty="0">
                <a:solidFill>
                  <a:schemeClr val="tx2"/>
                </a:solidFill>
              </a:rPr>
              <a:t>The order opens in WhatsApp for the visitor to send.</a:t>
            </a:r>
            <a:endParaRPr lang="en-US" sz="1800" dirty="0"/>
          </a:p>
        </p:txBody>
      </p:sp>
      <p:sp>
        <p:nvSpPr>
          <p:cNvPr id="22" name="Important card"/>
          <p:cNvSpPr/>
          <p:nvPr/>
        </p:nvSpPr>
        <p:spPr>
          <a:xfrm>
            <a:off x="548640" y="4480560"/>
            <a:ext cx="11091672" cy="1188720"/>
          </a:xfrm>
          <a:prstGeom prst="roundRect">
            <a:avLst>
              <a:gd name="adj" fmla="val 9231"/>
            </a:avLst>
          </a:prstGeom>
          <a:solidFill>
            <a:schemeClr val="bg2"/>
          </a:solidFill>
          <a:ln w="12700">
            <a:solidFill>
              <a:schemeClr val="bg2"/>
            </a:solidFill>
            <a:prstDash val="solid"/>
          </a:ln>
        </p:spPr>
      </p:sp>
      <p:pic>
        <p:nvPicPr>
          <p:cNvPr id="23" name="Link icon" descr="Link">    </p:cNvPr>
          <p:cNvPicPr>
            <a:picLocks noChangeAspect="1"/>
          </p:cNvPicPr>
          <p:nvPr/>
        </p:nvPicPr>
        <p:blipFill>
          <a:blip r:embed="rId1"/>
          <a:stretch>
            <a:fillRect/>
          </a:stretch>
        </p:blipFill>
        <p:spPr>
          <a:xfrm>
            <a:off x="868680" y="4800600"/>
            <a:ext cx="548640" cy="548640"/>
          </a:xfrm>
          <a:prstGeom prst="rect">
            <a:avLst/>
          </a:prstGeom>
        </p:spPr>
      </p:pic>
      <p:sp>
        <p:nvSpPr>
          <p:cNvPr id="24" name="Important text"/>
          <p:cNvSpPr txBox="1"/>
          <p:nvPr/>
        </p:nvSpPr>
        <p:spPr>
          <a:xfrm>
            <a:off x="1691640" y="4572000"/>
            <a:ext cx="9628632" cy="1005840"/>
          </a:xfrm>
          <a:prstGeom prst="rect">
            <a:avLst/>
          </a:prstGeom>
          <a:noFill/>
          <a:ln/>
        </p:spPr>
        <p:txBody>
          <a:bodyPr wrap="square" lIns="0" tIns="0" rIns="0" bIns="0" rtlCol="0" anchor="ctr"/>
          <a:lstStyle/>
          <a:p>
            <a:pPr indent="0" marL="0">
              <a:buNone/>
            </a:pPr>
            <a:r>
              <a:rPr lang="en-US" sz="1800" b="1" dirty="0">
                <a:solidFill>
                  <a:schemeClr val="tx1"/>
                </a:solidFill>
              </a:rPr>
              <a:t>One setting decides whether you receive orders</a:t>
            </a:r>
            <a:endParaRPr lang="en-US" sz="1800" dirty="0"/>
          </a:p>
          <a:p>
            <a:pPr indent="0" marL="0">
              <a:buNone/>
            </a:pPr>
            <a:r>
              <a:rPr lang="en-US" sz="1400" dirty="0">
                <a:solidFill>
                  <a:schemeClr val="tx2"/>
                </a:solidFill>
              </a:rPr>
              <a:t>Add your WhatsApp number to SETTINGS in script.js. Without it, an order is saved only in the customer’s own browser.</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Works on phones too</a:t>
            </a:r>
            <a:endParaRPr lang="en-US" sz="3600" dirty="0"/>
          </a:p>
        </p:txBody>
      </p:sp>
      <p:pic>
        <p:nvPicPr>
          <p:cNvPr id="3" name="Phone 1" descr="Phone 1">    </p:cNvPr>
          <p:cNvPicPr>
            <a:picLocks noChangeAspect="1"/>
          </p:cNvPicPr>
          <p:nvPr/>
        </p:nvPicPr>
        <p:blipFill>
          <a:blip r:embed="rId1"/>
          <a:stretch>
            <a:fillRect/>
          </a:stretch>
        </p:blipFill>
        <p:spPr>
          <a:xfrm>
            <a:off x="548640" y="1417320"/>
            <a:ext cx="2286000" cy="4572000"/>
          </a:xfrm>
          <a:prstGeom prst="rect">
            <a:avLst/>
          </a:prstGeom>
          <a:effectLst>
            <a:outerShdw sx="100000" sy="100000" kx="0" ky="0" algn="bl" rotWithShape="0" blurRad="101600" dist="25400" dir="5400000">
              <a:srgbClr val="000000">
                <a:alpha val="22000"/>
              </a:srgbClr>
            </a:outerShdw>
          </a:effectLst>
        </p:spPr>
      </p:pic>
      <p:pic>
        <p:nvPicPr>
          <p:cNvPr id="4" name="Phone 2" descr="Phone 2">    </p:cNvPr>
          <p:cNvPicPr>
            <a:picLocks noChangeAspect="1"/>
          </p:cNvPicPr>
          <p:nvPr/>
        </p:nvPicPr>
        <p:blipFill>
          <a:blip r:embed="rId2"/>
          <a:stretch>
            <a:fillRect/>
          </a:stretch>
        </p:blipFill>
        <p:spPr>
          <a:xfrm>
            <a:off x="3154680" y="1417320"/>
            <a:ext cx="2286000" cy="4572000"/>
          </a:xfrm>
          <a:prstGeom prst="rect">
            <a:avLst/>
          </a:prstGeom>
          <a:effectLst>
            <a:outerShdw sx="100000" sy="100000" kx="0" ky="0" algn="bl" rotWithShape="0" blurRad="101600" dist="25400" dir="5400000">
              <a:srgbClr val="000000">
                <a:alpha val="22000"/>
              </a:srgbClr>
            </a:outerShdw>
          </a:effectLst>
        </p:spPr>
      </p:pic>
      <p:pic>
        <p:nvPicPr>
          <p:cNvPr id="5" name="Phone 3" descr="Phone 3">    </p:cNvPr>
          <p:cNvPicPr>
            <a:picLocks noChangeAspect="1"/>
          </p:cNvPicPr>
          <p:nvPr/>
        </p:nvPicPr>
        <p:blipFill>
          <a:blip r:embed="rId3"/>
          <a:stretch>
            <a:fillRect/>
          </a:stretch>
        </p:blipFill>
        <p:spPr>
          <a:xfrm>
            <a:off x="5760720" y="1417320"/>
            <a:ext cx="2286000" cy="4572000"/>
          </a:xfrm>
          <a:prstGeom prst="rect">
            <a:avLst/>
          </a:prstGeom>
          <a:effectLst>
            <a:outerShdw sx="100000" sy="100000" kx="0" ky="0" algn="bl" rotWithShape="0" blurRad="101600" dist="25400" dir="5400000">
              <a:srgbClr val="000000">
                <a:alpha val="22000"/>
              </a:srgbClr>
            </a:outerShdw>
          </a:effectLst>
        </p:spPr>
      </p:pic>
      <p:sp>
        <p:nvSpPr>
          <p:cNvPr id="6" name="Mobile point 1"/>
          <p:cNvSpPr txBox="1"/>
          <p:nvPr/>
        </p:nvSpPr>
        <p:spPr>
          <a:xfrm>
            <a:off x="8778240" y="1508760"/>
            <a:ext cx="2862072" cy="1280160"/>
          </a:xfrm>
          <a:prstGeom prst="rect">
            <a:avLst/>
          </a:prstGeom>
          <a:noFill/>
          <a:ln/>
        </p:spPr>
        <p:txBody>
          <a:bodyPr wrap="square" lIns="0" tIns="0" rIns="0" bIns="0" rtlCol="0" anchor="t"/>
          <a:lstStyle/>
          <a:p>
            <a:pPr indent="0" marL="0">
              <a:buNone/>
            </a:pPr>
            <a:r>
              <a:rPr lang="en-US" sz="1800" b="1" dirty="0">
                <a:solidFill>
                  <a:schemeClr val="tx1"/>
                </a:solidFill>
              </a:rPr>
              <a:t>Hamburger menu</a:t>
            </a:r>
            <a:endParaRPr lang="en-US" sz="1800" dirty="0"/>
          </a:p>
          <a:p>
            <a:pPr indent="0" marL="0">
              <a:buNone/>
            </a:pPr>
            <a:r>
              <a:rPr lang="en-US" sz="1400" dirty="0">
                <a:solidFill>
                  <a:schemeClr val="tx2"/>
                </a:solidFill>
              </a:rPr>
              <a:t>The navbar collapses into one tap on small screens.</a:t>
            </a:r>
            <a:endParaRPr lang="en-US" sz="1800" dirty="0"/>
          </a:p>
        </p:txBody>
      </p:sp>
      <p:sp>
        <p:nvSpPr>
          <p:cNvPr id="7" name="Mobile point 2"/>
          <p:cNvSpPr txBox="1"/>
          <p:nvPr/>
        </p:nvSpPr>
        <p:spPr>
          <a:xfrm>
            <a:off x="8778240" y="2971800"/>
            <a:ext cx="2862072" cy="1280160"/>
          </a:xfrm>
          <a:prstGeom prst="rect">
            <a:avLst/>
          </a:prstGeom>
          <a:noFill/>
          <a:ln/>
        </p:spPr>
        <p:txBody>
          <a:bodyPr wrap="square" lIns="0" tIns="0" rIns="0" bIns="0" rtlCol="0" anchor="t"/>
          <a:lstStyle/>
          <a:p>
            <a:pPr indent="0" marL="0">
              <a:buNone/>
            </a:pPr>
            <a:r>
              <a:rPr lang="en-US" sz="1800" b="1" dirty="0">
                <a:solidFill>
                  <a:schemeClr val="tx1"/>
                </a:solidFill>
              </a:rPr>
              <a:t>One column</a:t>
            </a:r>
            <a:endParaRPr lang="en-US" sz="1800" dirty="0"/>
          </a:p>
          <a:p>
            <a:pPr indent="0" marL="0">
              <a:buNone/>
            </a:pPr>
            <a:r>
              <a:rPr lang="en-US" sz="1400" dirty="0">
                <a:solidFill>
                  <a:schemeClr val="tx2"/>
                </a:solidFill>
              </a:rPr>
              <a:t>Cards stack so every product photo and price stays readable.</a:t>
            </a:r>
            <a:endParaRPr lang="en-US" sz="1800" dirty="0"/>
          </a:p>
        </p:txBody>
      </p:sp>
      <p:sp>
        <p:nvSpPr>
          <p:cNvPr id="8" name="Mobile point 3"/>
          <p:cNvSpPr txBox="1"/>
          <p:nvPr/>
        </p:nvSpPr>
        <p:spPr>
          <a:xfrm>
            <a:off x="8778240" y="4434840"/>
            <a:ext cx="2862072" cy="1280160"/>
          </a:xfrm>
          <a:prstGeom prst="rect">
            <a:avLst/>
          </a:prstGeom>
          <a:noFill/>
          <a:ln/>
        </p:spPr>
        <p:txBody>
          <a:bodyPr wrap="square" lIns="0" tIns="0" rIns="0" bIns="0" rtlCol="0" anchor="t"/>
          <a:lstStyle/>
          <a:p>
            <a:pPr indent="0" marL="0">
              <a:buNone/>
            </a:pPr>
            <a:r>
              <a:rPr lang="en-US" sz="1800" b="1" dirty="0">
                <a:solidFill>
                  <a:schemeClr val="tx1"/>
                </a:solidFill>
              </a:rPr>
              <a:t>Full-height cart</a:t>
            </a:r>
            <a:endParaRPr lang="en-US" sz="1800" dirty="0"/>
          </a:p>
          <a:p>
            <a:pPr indent="0" marL="0">
              <a:buNone/>
            </a:pPr>
            <a:r>
              <a:rPr lang="en-US" sz="1400" dirty="0">
                <a:solidFill>
                  <a:schemeClr val="tx2"/>
                </a:solidFill>
              </a:rPr>
              <a:t>The cart drawer fills the screen and keeps Checkout in reach.</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What was fixed</a:t>
            </a:r>
            <a:endParaRPr lang="en-US" sz="3600" dirty="0"/>
          </a:p>
        </p:txBody>
      </p:sp>
      <p:sp>
        <p:nvSpPr>
          <p:cNvPr id="3" name="Fix card 1"/>
          <p:cNvSpPr/>
          <p:nvPr/>
        </p:nvSpPr>
        <p:spPr>
          <a:xfrm>
            <a:off x="548640" y="1463040"/>
            <a:ext cx="3520440" cy="2011680"/>
          </a:xfrm>
          <a:prstGeom prst="roundRect">
            <a:avLst>
              <a:gd name="adj" fmla="val 5455"/>
            </a:avLst>
          </a:prstGeom>
          <a:solidFill>
            <a:schemeClr val="bg2"/>
          </a:solidFill>
          <a:ln w="12700">
            <a:solidFill>
              <a:schemeClr val="bg2"/>
            </a:solidFill>
            <a:prstDash val="solid"/>
          </a:ln>
        </p:spPr>
      </p:sp>
      <p:sp>
        <p:nvSpPr>
          <p:cNvPr id="4" name="Fix 1 circle"/>
          <p:cNvSpPr/>
          <p:nvPr/>
        </p:nvSpPr>
        <p:spPr>
          <a:xfrm>
            <a:off x="822960" y="1737360"/>
            <a:ext cx="594360" cy="594360"/>
          </a:xfrm>
          <a:prstGeom prst="ellipse">
            <a:avLst/>
          </a:prstGeom>
          <a:solidFill>
            <a:schemeClr val="accent1"/>
          </a:solidFill>
          <a:ln w="12700">
            <a:solidFill>
              <a:schemeClr val="accent1"/>
            </a:solidFill>
            <a:prstDash val="solid"/>
          </a:ln>
        </p:spPr>
      </p:sp>
      <p:pic>
        <p:nvPicPr>
          <p:cNvPr id="5" name="Fix 1 icon" descr="Fix 1">    </p:cNvPr>
          <p:cNvPicPr>
            <a:picLocks noChangeAspect="1"/>
          </p:cNvPicPr>
          <p:nvPr/>
        </p:nvPicPr>
        <p:blipFill>
          <a:blip r:embed="rId1"/>
          <a:stretch>
            <a:fillRect/>
          </a:stretch>
        </p:blipFill>
        <p:spPr>
          <a:xfrm>
            <a:off x="977494" y="1891894"/>
            <a:ext cx="285293" cy="285293"/>
          </a:xfrm>
          <a:prstGeom prst="rect">
            <a:avLst/>
          </a:prstGeom>
        </p:spPr>
      </p:pic>
      <p:sp>
        <p:nvSpPr>
          <p:cNvPr id="6" name="Fix text 1"/>
          <p:cNvSpPr txBox="1"/>
          <p:nvPr/>
        </p:nvSpPr>
        <p:spPr>
          <a:xfrm>
            <a:off x="822960" y="2450592"/>
            <a:ext cx="2971800" cy="914400"/>
          </a:xfrm>
          <a:prstGeom prst="rect">
            <a:avLst/>
          </a:prstGeom>
          <a:noFill/>
          <a:ln/>
        </p:spPr>
        <p:txBody>
          <a:bodyPr wrap="square" lIns="0" tIns="0" rIns="0" bIns="0" rtlCol="0" anchor="t"/>
          <a:lstStyle/>
          <a:p>
            <a:pPr indent="0" marL="0">
              <a:buNone/>
            </a:pPr>
            <a:r>
              <a:rPr lang="en-US" sz="1800" b="1" dirty="0">
                <a:solidFill>
                  <a:schemeClr val="tx1"/>
                </a:solidFill>
              </a:rPr>
              <a:t>Cart price bug</a:t>
            </a:r>
            <a:endParaRPr lang="en-US" sz="1800" dirty="0"/>
          </a:p>
          <a:p>
            <a:pPr indent="0" marL="0">
              <a:buNone/>
            </a:pPr>
            <a:r>
              <a:rPr lang="en-US" sz="1400" dirty="0">
                <a:solidFill>
                  <a:schemeClr val="tx2"/>
                </a:solidFill>
              </a:rPr>
              <a:t>Two cakes with the same name were merged at the wrong price.</a:t>
            </a:r>
            <a:endParaRPr lang="en-US" sz="1800" dirty="0"/>
          </a:p>
        </p:txBody>
      </p:sp>
      <p:sp>
        <p:nvSpPr>
          <p:cNvPr id="7" name="Fix card 2"/>
          <p:cNvSpPr/>
          <p:nvPr/>
        </p:nvSpPr>
        <p:spPr>
          <a:xfrm>
            <a:off x="4325112" y="1463040"/>
            <a:ext cx="3520440" cy="2011680"/>
          </a:xfrm>
          <a:prstGeom prst="roundRect">
            <a:avLst>
              <a:gd name="adj" fmla="val 5455"/>
            </a:avLst>
          </a:prstGeom>
          <a:solidFill>
            <a:schemeClr val="bg2"/>
          </a:solidFill>
          <a:ln w="12700">
            <a:solidFill>
              <a:schemeClr val="bg2"/>
            </a:solidFill>
            <a:prstDash val="solid"/>
          </a:ln>
        </p:spPr>
      </p:sp>
      <p:sp>
        <p:nvSpPr>
          <p:cNvPr id="8" name="Fix 2 circle"/>
          <p:cNvSpPr/>
          <p:nvPr/>
        </p:nvSpPr>
        <p:spPr>
          <a:xfrm>
            <a:off x="4599432" y="1737360"/>
            <a:ext cx="594360" cy="594360"/>
          </a:xfrm>
          <a:prstGeom prst="ellipse">
            <a:avLst/>
          </a:prstGeom>
          <a:solidFill>
            <a:schemeClr val="accent1"/>
          </a:solidFill>
          <a:ln w="12700">
            <a:solidFill>
              <a:schemeClr val="accent1"/>
            </a:solidFill>
            <a:prstDash val="solid"/>
          </a:ln>
        </p:spPr>
      </p:sp>
      <p:pic>
        <p:nvPicPr>
          <p:cNvPr id="9" name="Fix 2 icon" descr="Fix 2">    </p:cNvPr>
          <p:cNvPicPr>
            <a:picLocks noChangeAspect="1"/>
          </p:cNvPicPr>
          <p:nvPr/>
        </p:nvPicPr>
        <p:blipFill>
          <a:blip r:embed="rId2"/>
          <a:stretch>
            <a:fillRect/>
          </a:stretch>
        </p:blipFill>
        <p:spPr>
          <a:xfrm>
            <a:off x="4753966" y="1891894"/>
            <a:ext cx="285293" cy="285293"/>
          </a:xfrm>
          <a:prstGeom prst="rect">
            <a:avLst/>
          </a:prstGeom>
        </p:spPr>
      </p:pic>
      <p:sp>
        <p:nvSpPr>
          <p:cNvPr id="10" name="Fix text 2"/>
          <p:cNvSpPr txBox="1"/>
          <p:nvPr/>
        </p:nvSpPr>
        <p:spPr>
          <a:xfrm>
            <a:off x="4599432" y="2450592"/>
            <a:ext cx="2971800" cy="914400"/>
          </a:xfrm>
          <a:prstGeom prst="rect">
            <a:avLst/>
          </a:prstGeom>
          <a:noFill/>
          <a:ln/>
        </p:spPr>
        <p:txBody>
          <a:bodyPr wrap="square" lIns="0" tIns="0" rIns="0" bIns="0" rtlCol="0" anchor="t"/>
          <a:lstStyle/>
          <a:p>
            <a:pPr indent="0" marL="0">
              <a:buNone/>
            </a:pPr>
            <a:r>
              <a:rPr lang="en-US" sz="1800" b="1" dirty="0">
                <a:solidFill>
                  <a:schemeClr val="tx1"/>
                </a:solidFill>
              </a:rPr>
              <a:t>Free delivery</a:t>
            </a:r>
            <a:endParaRPr lang="en-US" sz="1800" dirty="0"/>
          </a:p>
          <a:p>
            <a:pPr indent="0" marL="0">
              <a:buNone/>
            </a:pPr>
            <a:r>
              <a:rPr lang="en-US" sz="1400" dirty="0">
                <a:solidFill>
                  <a:schemeClr val="tx2"/>
                </a:solidFill>
              </a:rPr>
              <a:t>The Rs. 2,000 offer was never applied. Now it is.</a:t>
            </a:r>
            <a:endParaRPr lang="en-US" sz="1800" dirty="0"/>
          </a:p>
        </p:txBody>
      </p:sp>
      <p:sp>
        <p:nvSpPr>
          <p:cNvPr id="11" name="Fix card 3"/>
          <p:cNvSpPr/>
          <p:nvPr/>
        </p:nvSpPr>
        <p:spPr>
          <a:xfrm>
            <a:off x="8101584" y="1463040"/>
            <a:ext cx="3520440" cy="2011680"/>
          </a:xfrm>
          <a:prstGeom prst="roundRect">
            <a:avLst>
              <a:gd name="adj" fmla="val 5455"/>
            </a:avLst>
          </a:prstGeom>
          <a:solidFill>
            <a:schemeClr val="bg2"/>
          </a:solidFill>
          <a:ln w="12700">
            <a:solidFill>
              <a:schemeClr val="bg2"/>
            </a:solidFill>
            <a:prstDash val="solid"/>
          </a:ln>
        </p:spPr>
      </p:sp>
      <p:sp>
        <p:nvSpPr>
          <p:cNvPr id="12" name="Fix 3 circle"/>
          <p:cNvSpPr/>
          <p:nvPr/>
        </p:nvSpPr>
        <p:spPr>
          <a:xfrm>
            <a:off x="8375904" y="1737360"/>
            <a:ext cx="594360" cy="594360"/>
          </a:xfrm>
          <a:prstGeom prst="ellipse">
            <a:avLst/>
          </a:prstGeom>
          <a:solidFill>
            <a:schemeClr val="accent1"/>
          </a:solidFill>
          <a:ln w="12700">
            <a:solidFill>
              <a:schemeClr val="accent1"/>
            </a:solidFill>
            <a:prstDash val="solid"/>
          </a:ln>
        </p:spPr>
      </p:sp>
      <p:pic>
        <p:nvPicPr>
          <p:cNvPr id="13" name="Fix 3 icon" descr="Fix 3">    </p:cNvPr>
          <p:cNvPicPr>
            <a:picLocks noChangeAspect="1"/>
          </p:cNvPicPr>
          <p:nvPr/>
        </p:nvPicPr>
        <p:blipFill>
          <a:blip r:embed="rId3"/>
          <a:stretch>
            <a:fillRect/>
          </a:stretch>
        </p:blipFill>
        <p:spPr>
          <a:xfrm>
            <a:off x="8530438" y="1891894"/>
            <a:ext cx="285293" cy="285293"/>
          </a:xfrm>
          <a:prstGeom prst="rect">
            <a:avLst/>
          </a:prstGeom>
        </p:spPr>
      </p:pic>
      <p:sp>
        <p:nvSpPr>
          <p:cNvPr id="14" name="Fix text 3"/>
          <p:cNvSpPr txBox="1"/>
          <p:nvPr/>
        </p:nvSpPr>
        <p:spPr>
          <a:xfrm>
            <a:off x="8375904" y="2450592"/>
            <a:ext cx="2971800" cy="914400"/>
          </a:xfrm>
          <a:prstGeom prst="rect">
            <a:avLst/>
          </a:prstGeom>
          <a:noFill/>
          <a:ln/>
        </p:spPr>
        <p:txBody>
          <a:bodyPr wrap="square" lIns="0" tIns="0" rIns="0" bIns="0" rtlCol="0" anchor="t"/>
          <a:lstStyle/>
          <a:p>
            <a:pPr indent="0" marL="0">
              <a:buNone/>
            </a:pPr>
            <a:r>
              <a:rPr lang="en-US" sz="1800" b="1" dirty="0">
                <a:solidFill>
                  <a:schemeClr val="tx1"/>
                </a:solidFill>
              </a:rPr>
              <a:t>Checkout popups</a:t>
            </a:r>
            <a:endParaRPr lang="en-US" sz="1800" dirty="0"/>
          </a:p>
          <a:p>
            <a:pPr indent="0" marL="0">
              <a:buNone/>
            </a:pPr>
            <a:r>
              <a:rPr lang="en-US" sz="1400" dirty="0">
                <a:solidFill>
                  <a:schemeClr val="tx2"/>
                </a:solidFill>
              </a:rPr>
              <a:t>They had no styling and sat open at the page bottom.</a:t>
            </a:r>
            <a:endParaRPr lang="en-US" sz="1800" dirty="0"/>
          </a:p>
        </p:txBody>
      </p:sp>
      <p:sp>
        <p:nvSpPr>
          <p:cNvPr id="15" name="Fix card 4"/>
          <p:cNvSpPr/>
          <p:nvPr/>
        </p:nvSpPr>
        <p:spPr>
          <a:xfrm>
            <a:off x="548640" y="3703320"/>
            <a:ext cx="3520440" cy="2011680"/>
          </a:xfrm>
          <a:prstGeom prst="roundRect">
            <a:avLst>
              <a:gd name="adj" fmla="val 5455"/>
            </a:avLst>
          </a:prstGeom>
          <a:solidFill>
            <a:schemeClr val="bg2"/>
          </a:solidFill>
          <a:ln w="12700">
            <a:solidFill>
              <a:schemeClr val="bg2"/>
            </a:solidFill>
            <a:prstDash val="solid"/>
          </a:ln>
        </p:spPr>
      </p:sp>
      <p:sp>
        <p:nvSpPr>
          <p:cNvPr id="16" name="Fix 4 circle"/>
          <p:cNvSpPr/>
          <p:nvPr/>
        </p:nvSpPr>
        <p:spPr>
          <a:xfrm>
            <a:off x="822960" y="3977640"/>
            <a:ext cx="594360" cy="594360"/>
          </a:xfrm>
          <a:prstGeom prst="ellipse">
            <a:avLst/>
          </a:prstGeom>
          <a:solidFill>
            <a:schemeClr val="accent1"/>
          </a:solidFill>
          <a:ln w="12700">
            <a:solidFill>
              <a:schemeClr val="accent1"/>
            </a:solidFill>
            <a:prstDash val="solid"/>
          </a:ln>
        </p:spPr>
      </p:sp>
      <p:pic>
        <p:nvPicPr>
          <p:cNvPr id="17" name="Fix 4 icon" descr="Fix 4">    </p:cNvPr>
          <p:cNvPicPr>
            <a:picLocks noChangeAspect="1"/>
          </p:cNvPicPr>
          <p:nvPr/>
        </p:nvPicPr>
        <p:blipFill>
          <a:blip r:embed="rId4"/>
          <a:stretch>
            <a:fillRect/>
          </a:stretch>
        </p:blipFill>
        <p:spPr>
          <a:xfrm>
            <a:off x="977494" y="4132174"/>
            <a:ext cx="285293" cy="285293"/>
          </a:xfrm>
          <a:prstGeom prst="rect">
            <a:avLst/>
          </a:prstGeom>
        </p:spPr>
      </p:pic>
      <p:sp>
        <p:nvSpPr>
          <p:cNvPr id="18" name="Fix text 4"/>
          <p:cNvSpPr txBox="1"/>
          <p:nvPr/>
        </p:nvSpPr>
        <p:spPr>
          <a:xfrm>
            <a:off x="822960" y="4690872"/>
            <a:ext cx="2971800" cy="914400"/>
          </a:xfrm>
          <a:prstGeom prst="rect">
            <a:avLst/>
          </a:prstGeom>
          <a:noFill/>
          <a:ln/>
        </p:spPr>
        <p:txBody>
          <a:bodyPr wrap="square" lIns="0" tIns="0" rIns="0" bIns="0" rtlCol="0" anchor="t"/>
          <a:lstStyle/>
          <a:p>
            <a:pPr indent="0" marL="0">
              <a:buNone/>
            </a:pPr>
            <a:r>
              <a:rPr lang="en-US" sz="1800" b="1" dirty="0">
                <a:solidFill>
                  <a:schemeClr val="tx1"/>
                </a:solidFill>
              </a:rPr>
              <a:t>Add to Cart buttons</a:t>
            </a:r>
            <a:endParaRPr lang="en-US" sz="1800" dirty="0"/>
          </a:p>
          <a:p>
            <a:pPr indent="0" marL="0">
              <a:buNone/>
            </a:pPr>
            <a:r>
              <a:rPr lang="en-US" sz="1400" dirty="0">
                <a:solidFill>
                  <a:schemeClr val="tx2"/>
                </a:solidFill>
              </a:rPr>
              <a:t>Category buttons were plain browser buttons. Now styled.</a:t>
            </a:r>
            <a:endParaRPr lang="en-US" sz="1800" dirty="0"/>
          </a:p>
        </p:txBody>
      </p:sp>
      <p:sp>
        <p:nvSpPr>
          <p:cNvPr id="19" name="Fix card 5"/>
          <p:cNvSpPr/>
          <p:nvPr/>
        </p:nvSpPr>
        <p:spPr>
          <a:xfrm>
            <a:off x="4325112" y="3703320"/>
            <a:ext cx="3520440" cy="2011680"/>
          </a:xfrm>
          <a:prstGeom prst="roundRect">
            <a:avLst>
              <a:gd name="adj" fmla="val 5455"/>
            </a:avLst>
          </a:prstGeom>
          <a:solidFill>
            <a:schemeClr val="bg2"/>
          </a:solidFill>
          <a:ln w="12700">
            <a:solidFill>
              <a:schemeClr val="bg2"/>
            </a:solidFill>
            <a:prstDash val="solid"/>
          </a:ln>
        </p:spPr>
      </p:sp>
      <p:sp>
        <p:nvSpPr>
          <p:cNvPr id="20" name="Fix 5 circle"/>
          <p:cNvSpPr/>
          <p:nvPr/>
        </p:nvSpPr>
        <p:spPr>
          <a:xfrm>
            <a:off x="4599432" y="3977640"/>
            <a:ext cx="594360" cy="594360"/>
          </a:xfrm>
          <a:prstGeom prst="ellipse">
            <a:avLst/>
          </a:prstGeom>
          <a:solidFill>
            <a:schemeClr val="accent1"/>
          </a:solidFill>
          <a:ln w="12700">
            <a:solidFill>
              <a:schemeClr val="accent1"/>
            </a:solidFill>
            <a:prstDash val="solid"/>
          </a:ln>
        </p:spPr>
      </p:sp>
      <p:pic>
        <p:nvPicPr>
          <p:cNvPr id="21" name="Fix 5 icon" descr="Fix 5">    </p:cNvPr>
          <p:cNvPicPr>
            <a:picLocks noChangeAspect="1"/>
          </p:cNvPicPr>
          <p:nvPr/>
        </p:nvPicPr>
        <p:blipFill>
          <a:blip r:embed="rId5"/>
          <a:stretch>
            <a:fillRect/>
          </a:stretch>
        </p:blipFill>
        <p:spPr>
          <a:xfrm>
            <a:off x="4753966" y="4132174"/>
            <a:ext cx="285293" cy="285293"/>
          </a:xfrm>
          <a:prstGeom prst="rect">
            <a:avLst/>
          </a:prstGeom>
        </p:spPr>
      </p:pic>
      <p:sp>
        <p:nvSpPr>
          <p:cNvPr id="22" name="Fix text 5"/>
          <p:cNvSpPr txBox="1"/>
          <p:nvPr/>
        </p:nvSpPr>
        <p:spPr>
          <a:xfrm>
            <a:off x="4599432" y="4690872"/>
            <a:ext cx="2971800" cy="914400"/>
          </a:xfrm>
          <a:prstGeom prst="rect">
            <a:avLst/>
          </a:prstGeom>
          <a:noFill/>
          <a:ln/>
        </p:spPr>
        <p:txBody>
          <a:bodyPr wrap="square" lIns="0" tIns="0" rIns="0" bIns="0" rtlCol="0" anchor="t"/>
          <a:lstStyle/>
          <a:p>
            <a:pPr indent="0" marL="0">
              <a:buNone/>
            </a:pPr>
            <a:r>
              <a:rPr lang="en-US" sz="1800" b="1" dirty="0">
                <a:solidFill>
                  <a:schemeClr val="tx1"/>
                </a:solidFill>
              </a:rPr>
              <a:t>Menu filters</a:t>
            </a:r>
            <a:endParaRPr lang="en-US" sz="1800" dirty="0"/>
          </a:p>
          <a:p>
            <a:pPr indent="0" marL="0">
              <a:buNone/>
            </a:pPr>
            <a:r>
              <a:rPr lang="en-US" sz="1400" dirty="0">
                <a:solidFill>
                  <a:schemeClr val="tx2"/>
                </a:solidFill>
              </a:rPr>
              <a:t>Pies no longer blanks the menu, and the menu has its own filters.</a:t>
            </a:r>
            <a:endParaRPr lang="en-US" sz="1800" dirty="0"/>
          </a:p>
        </p:txBody>
      </p:sp>
      <p:sp>
        <p:nvSpPr>
          <p:cNvPr id="23" name="Fix card 6"/>
          <p:cNvSpPr/>
          <p:nvPr/>
        </p:nvSpPr>
        <p:spPr>
          <a:xfrm>
            <a:off x="8101584" y="3703320"/>
            <a:ext cx="3520440" cy="2011680"/>
          </a:xfrm>
          <a:prstGeom prst="roundRect">
            <a:avLst>
              <a:gd name="adj" fmla="val 5455"/>
            </a:avLst>
          </a:prstGeom>
          <a:solidFill>
            <a:schemeClr val="bg2"/>
          </a:solidFill>
          <a:ln w="12700">
            <a:solidFill>
              <a:schemeClr val="bg2"/>
            </a:solidFill>
            <a:prstDash val="solid"/>
          </a:ln>
        </p:spPr>
      </p:sp>
      <p:sp>
        <p:nvSpPr>
          <p:cNvPr id="24" name="Fix 6 circle"/>
          <p:cNvSpPr/>
          <p:nvPr/>
        </p:nvSpPr>
        <p:spPr>
          <a:xfrm>
            <a:off x="8375904" y="3977640"/>
            <a:ext cx="594360" cy="594360"/>
          </a:xfrm>
          <a:prstGeom prst="ellipse">
            <a:avLst/>
          </a:prstGeom>
          <a:solidFill>
            <a:schemeClr val="accent1"/>
          </a:solidFill>
          <a:ln w="12700">
            <a:solidFill>
              <a:schemeClr val="accent1"/>
            </a:solidFill>
            <a:prstDash val="solid"/>
          </a:ln>
        </p:spPr>
      </p:sp>
      <p:pic>
        <p:nvPicPr>
          <p:cNvPr id="25" name="Fix 6 icon" descr="Fix 6">    </p:cNvPr>
          <p:cNvPicPr>
            <a:picLocks noChangeAspect="1"/>
          </p:cNvPicPr>
          <p:nvPr/>
        </p:nvPicPr>
        <p:blipFill>
          <a:blip r:embed="rId6"/>
          <a:stretch>
            <a:fillRect/>
          </a:stretch>
        </p:blipFill>
        <p:spPr>
          <a:xfrm>
            <a:off x="8530438" y="4132174"/>
            <a:ext cx="285293" cy="285293"/>
          </a:xfrm>
          <a:prstGeom prst="rect">
            <a:avLst/>
          </a:prstGeom>
        </p:spPr>
      </p:pic>
      <p:sp>
        <p:nvSpPr>
          <p:cNvPr id="26" name="Fix text 6"/>
          <p:cNvSpPr txBox="1"/>
          <p:nvPr/>
        </p:nvSpPr>
        <p:spPr>
          <a:xfrm>
            <a:off x="8375904" y="4690872"/>
            <a:ext cx="2971800" cy="914400"/>
          </a:xfrm>
          <a:prstGeom prst="rect">
            <a:avLst/>
          </a:prstGeom>
          <a:noFill/>
          <a:ln/>
        </p:spPr>
        <p:txBody>
          <a:bodyPr wrap="square" lIns="0" tIns="0" rIns="0" bIns="0" rtlCol="0" anchor="t"/>
          <a:lstStyle/>
          <a:p>
            <a:pPr indent="0" marL="0">
              <a:buNone/>
            </a:pPr>
            <a:r>
              <a:rPr lang="en-US" sz="1800" b="1" dirty="0">
                <a:solidFill>
                  <a:schemeClr val="tx1"/>
                </a:solidFill>
              </a:rPr>
              <a:t>Broken links</a:t>
            </a:r>
            <a:endParaRPr lang="en-US" sz="1800" dirty="0"/>
          </a:p>
          <a:p>
            <a:pPr indent="0" marL="0">
              <a:buNone/>
            </a:pPr>
            <a:r>
              <a:rPr lang="en-US" sz="1400" dirty="0">
                <a:solidFill>
                  <a:schemeClr val="tx2"/>
                </a:solidFill>
              </a:rPr>
              <a:t>Five sitemap links and the hero View Menu button now go to the right place.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D5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bg1"/>
                </a:solidFill>
              </a:rPr>
              <a:t>Five updates before going live</a:t>
            </a:r>
            <a:endParaRPr lang="en-US" sz="3600" dirty="0"/>
          </a:p>
        </p:txBody>
      </p:sp>
      <p:sp>
        <p:nvSpPr>
          <p:cNvPr id="3" name="Check circle 1"/>
          <p:cNvSpPr/>
          <p:nvPr/>
        </p:nvSpPr>
        <p:spPr>
          <a:xfrm>
            <a:off x="548640" y="1554480"/>
            <a:ext cx="502920" cy="502920"/>
          </a:xfrm>
          <a:prstGeom prst="ellipse">
            <a:avLst/>
          </a:prstGeom>
          <a:solidFill>
            <a:schemeClr val="accent1"/>
          </a:solidFill>
          <a:ln w="12700">
            <a:solidFill>
              <a:schemeClr val="accent1"/>
            </a:solidFill>
            <a:prstDash val="solid"/>
          </a:ln>
        </p:spPr>
      </p:sp>
      <p:pic>
        <p:nvPicPr>
          <p:cNvPr id="4" name="Check icon 1" descr="Check">    </p:cNvPr>
          <p:cNvPicPr>
            <a:picLocks noChangeAspect="1"/>
          </p:cNvPicPr>
          <p:nvPr/>
        </p:nvPicPr>
        <p:blipFill>
          <a:blip r:embed="rId1"/>
          <a:stretch>
            <a:fillRect/>
          </a:stretch>
        </p:blipFill>
        <p:spPr>
          <a:xfrm>
            <a:off x="676656" y="1682496"/>
            <a:ext cx="246888" cy="246888"/>
          </a:xfrm>
          <a:prstGeom prst="rect">
            <a:avLst/>
          </a:prstGeom>
        </p:spPr>
      </p:pic>
      <p:sp>
        <p:nvSpPr>
          <p:cNvPr id="5" name="To-do 1"/>
          <p:cNvSpPr txBox="1"/>
          <p:nvPr/>
        </p:nvSpPr>
        <p:spPr>
          <a:xfrm>
            <a:off x="1325880" y="1508760"/>
            <a:ext cx="10314432" cy="640080"/>
          </a:xfrm>
          <a:prstGeom prst="rect">
            <a:avLst/>
          </a:prstGeom>
          <a:noFill/>
          <a:ln/>
        </p:spPr>
        <p:txBody>
          <a:bodyPr wrap="square" lIns="0" tIns="0" rIns="0" bIns="0" rtlCol="0" anchor="ctr"/>
          <a:lstStyle/>
          <a:p>
            <a:pPr indent="0" marL="0">
              <a:buNone/>
            </a:pPr>
            <a:r>
              <a:rPr lang="en-US" sz="2000" b="1" dirty="0">
                <a:solidFill>
                  <a:schemeClr val="bg1"/>
                </a:solidFill>
              </a:rPr>
              <a:t>Phone number  </a:t>
            </a:r>
            <a:pPr indent="0" marL="0">
              <a:buNone/>
            </a:pPr>
            <a:r>
              <a:rPr lang="en-US" sz="1600" dirty="0">
                <a:solidFill>
                  <a:srgbClr val="D8C6B4"/>
                </a:solidFill>
              </a:rPr>
              <a:t>Replace 03XX-XXXXXXX in the contact section and the Google data.</a:t>
            </a:r>
            <a:endParaRPr lang="en-US" sz="2000" dirty="0"/>
          </a:p>
        </p:txBody>
      </p:sp>
      <p:sp>
        <p:nvSpPr>
          <p:cNvPr id="6" name="Check circle 2"/>
          <p:cNvSpPr/>
          <p:nvPr/>
        </p:nvSpPr>
        <p:spPr>
          <a:xfrm>
            <a:off x="548640" y="2450592"/>
            <a:ext cx="502920" cy="502920"/>
          </a:xfrm>
          <a:prstGeom prst="ellipse">
            <a:avLst/>
          </a:prstGeom>
          <a:solidFill>
            <a:schemeClr val="accent1"/>
          </a:solidFill>
          <a:ln w="12700">
            <a:solidFill>
              <a:schemeClr val="accent1"/>
            </a:solidFill>
            <a:prstDash val="solid"/>
          </a:ln>
        </p:spPr>
      </p:sp>
      <p:pic>
        <p:nvPicPr>
          <p:cNvPr id="7" name="Check icon 2" descr="Check">    </p:cNvPr>
          <p:cNvPicPr>
            <a:picLocks noChangeAspect="1"/>
          </p:cNvPicPr>
          <p:nvPr/>
        </p:nvPicPr>
        <p:blipFill>
          <a:blip r:embed="rId2"/>
          <a:stretch>
            <a:fillRect/>
          </a:stretch>
        </p:blipFill>
        <p:spPr>
          <a:xfrm>
            <a:off x="676656" y="2578608"/>
            <a:ext cx="246888" cy="246888"/>
          </a:xfrm>
          <a:prstGeom prst="rect">
            <a:avLst/>
          </a:prstGeom>
        </p:spPr>
      </p:pic>
      <p:sp>
        <p:nvSpPr>
          <p:cNvPr id="8" name="To-do 2"/>
          <p:cNvSpPr txBox="1"/>
          <p:nvPr/>
        </p:nvSpPr>
        <p:spPr>
          <a:xfrm>
            <a:off x="1325880" y="2404872"/>
            <a:ext cx="10314432" cy="640080"/>
          </a:xfrm>
          <a:prstGeom prst="rect">
            <a:avLst/>
          </a:prstGeom>
          <a:noFill/>
          <a:ln/>
        </p:spPr>
        <p:txBody>
          <a:bodyPr wrap="square" lIns="0" tIns="0" rIns="0" bIns="0" rtlCol="0" anchor="ctr"/>
          <a:lstStyle/>
          <a:p>
            <a:pPr indent="0" marL="0">
              <a:buNone/>
            </a:pPr>
            <a:r>
              <a:rPr lang="en-US" sz="2000" b="1" dirty="0">
                <a:solidFill>
                  <a:schemeClr val="bg1"/>
                </a:solidFill>
              </a:rPr>
              <a:t>WhatsApp number  </a:t>
            </a:r>
            <a:pPr indent="0" marL="0">
              <a:buNone/>
            </a:pPr>
            <a:r>
              <a:rPr lang="en-US" sz="1600" dirty="0">
                <a:solidFill>
                  <a:srgbClr val="D8C6B4"/>
                </a:solidFill>
              </a:rPr>
              <a:t>Set it in script.js so orders reach you.</a:t>
            </a:r>
            <a:endParaRPr lang="en-US" sz="2000" dirty="0"/>
          </a:p>
        </p:txBody>
      </p:sp>
      <p:sp>
        <p:nvSpPr>
          <p:cNvPr id="9" name="Check circle 3"/>
          <p:cNvSpPr/>
          <p:nvPr/>
        </p:nvSpPr>
        <p:spPr>
          <a:xfrm>
            <a:off x="548640" y="3346704"/>
            <a:ext cx="502920" cy="502920"/>
          </a:xfrm>
          <a:prstGeom prst="ellipse">
            <a:avLst/>
          </a:prstGeom>
          <a:solidFill>
            <a:schemeClr val="accent1"/>
          </a:solidFill>
          <a:ln w="12700">
            <a:solidFill>
              <a:schemeClr val="accent1"/>
            </a:solidFill>
            <a:prstDash val="solid"/>
          </a:ln>
        </p:spPr>
      </p:sp>
      <p:pic>
        <p:nvPicPr>
          <p:cNvPr id="10" name="Check icon 3" descr="Check">    </p:cNvPr>
          <p:cNvPicPr>
            <a:picLocks noChangeAspect="1"/>
          </p:cNvPicPr>
          <p:nvPr/>
        </p:nvPicPr>
        <p:blipFill>
          <a:blip r:embed="rId3"/>
          <a:stretch>
            <a:fillRect/>
          </a:stretch>
        </p:blipFill>
        <p:spPr>
          <a:xfrm>
            <a:off x="676656" y="3474720"/>
            <a:ext cx="246888" cy="246888"/>
          </a:xfrm>
          <a:prstGeom prst="rect">
            <a:avLst/>
          </a:prstGeom>
        </p:spPr>
      </p:pic>
      <p:sp>
        <p:nvSpPr>
          <p:cNvPr id="11" name="To-do 3"/>
          <p:cNvSpPr txBox="1"/>
          <p:nvPr/>
        </p:nvSpPr>
        <p:spPr>
          <a:xfrm>
            <a:off x="1325880" y="3300984"/>
            <a:ext cx="10314432" cy="640080"/>
          </a:xfrm>
          <a:prstGeom prst="rect">
            <a:avLst/>
          </a:prstGeom>
          <a:noFill/>
          <a:ln/>
        </p:spPr>
        <p:txBody>
          <a:bodyPr wrap="square" lIns="0" tIns="0" rIns="0" bIns="0" rtlCol="0" anchor="ctr"/>
          <a:lstStyle/>
          <a:p>
            <a:pPr indent="0" marL="0">
              <a:buNone/>
            </a:pPr>
            <a:r>
              <a:rPr lang="en-US" sz="2000" b="1" dirty="0">
                <a:solidFill>
                  <a:schemeClr val="bg1"/>
                </a:solidFill>
              </a:rPr>
              <a:t>Product photos  </a:t>
            </a:r>
            <a:pPr indent="0" marL="0">
              <a:buNone/>
            </a:pPr>
            <a:r>
              <a:rPr lang="en-US" sz="1600" dirty="0">
                <a:solidFill>
                  <a:srgbClr val="D8C6B4"/>
                </a:solidFill>
              </a:rPr>
              <a:t>Save your own photos in the images folder instead of web links.</a:t>
            </a:r>
            <a:endParaRPr lang="en-US" sz="2000" dirty="0"/>
          </a:p>
        </p:txBody>
      </p:sp>
      <p:sp>
        <p:nvSpPr>
          <p:cNvPr id="12" name="Check circle 4"/>
          <p:cNvSpPr/>
          <p:nvPr/>
        </p:nvSpPr>
        <p:spPr>
          <a:xfrm>
            <a:off x="548640" y="4242816"/>
            <a:ext cx="502920" cy="502920"/>
          </a:xfrm>
          <a:prstGeom prst="ellipse">
            <a:avLst/>
          </a:prstGeom>
          <a:solidFill>
            <a:schemeClr val="accent1"/>
          </a:solidFill>
          <a:ln w="12700">
            <a:solidFill>
              <a:schemeClr val="accent1"/>
            </a:solidFill>
            <a:prstDash val="solid"/>
          </a:ln>
        </p:spPr>
      </p:sp>
      <p:pic>
        <p:nvPicPr>
          <p:cNvPr id="13" name="Check icon 4" descr="Check">    </p:cNvPr>
          <p:cNvPicPr>
            <a:picLocks noChangeAspect="1"/>
          </p:cNvPicPr>
          <p:nvPr/>
        </p:nvPicPr>
        <p:blipFill>
          <a:blip r:embed="rId4"/>
          <a:stretch>
            <a:fillRect/>
          </a:stretch>
        </p:blipFill>
        <p:spPr>
          <a:xfrm>
            <a:off x="676656" y="4370832"/>
            <a:ext cx="246888" cy="246888"/>
          </a:xfrm>
          <a:prstGeom prst="rect">
            <a:avLst/>
          </a:prstGeom>
        </p:spPr>
      </p:pic>
      <p:sp>
        <p:nvSpPr>
          <p:cNvPr id="14" name="To-do 4"/>
          <p:cNvSpPr txBox="1"/>
          <p:nvPr/>
        </p:nvSpPr>
        <p:spPr>
          <a:xfrm>
            <a:off x="1325880" y="4197096"/>
            <a:ext cx="10314432" cy="640080"/>
          </a:xfrm>
          <a:prstGeom prst="rect">
            <a:avLst/>
          </a:prstGeom>
          <a:noFill/>
          <a:ln/>
        </p:spPr>
        <p:txBody>
          <a:bodyPr wrap="square" lIns="0" tIns="0" rIns="0" bIns="0" rtlCol="0" anchor="ctr"/>
          <a:lstStyle/>
          <a:p>
            <a:pPr indent="0" marL="0">
              <a:buNone/>
            </a:pPr>
            <a:r>
              <a:rPr lang="en-US" sz="2000" b="1" dirty="0">
                <a:solidFill>
                  <a:schemeClr val="bg1"/>
                </a:solidFill>
              </a:rPr>
              <a:t>Prices and item count  </a:t>
            </a:r>
            <a:pPr indent="0" marL="0">
              <a:buNone/>
            </a:pPr>
            <a:r>
              <a:rPr lang="en-US" sz="1600" dirty="0">
                <a:solidFill>
                  <a:srgbClr val="D8C6B4"/>
                </a:solidFill>
              </a:rPr>
              <a:t>Check the flat prices, and fix "50+ items" against the 33 on the menu.</a:t>
            </a:r>
            <a:endParaRPr lang="en-US" sz="2000" dirty="0"/>
          </a:p>
        </p:txBody>
      </p:sp>
      <p:sp>
        <p:nvSpPr>
          <p:cNvPr id="15" name="Check circle 5"/>
          <p:cNvSpPr/>
          <p:nvPr/>
        </p:nvSpPr>
        <p:spPr>
          <a:xfrm>
            <a:off x="548640" y="5138928"/>
            <a:ext cx="502920" cy="502920"/>
          </a:xfrm>
          <a:prstGeom prst="ellipse">
            <a:avLst/>
          </a:prstGeom>
          <a:solidFill>
            <a:schemeClr val="accent1"/>
          </a:solidFill>
          <a:ln w="12700">
            <a:solidFill>
              <a:schemeClr val="accent1"/>
            </a:solidFill>
            <a:prstDash val="solid"/>
          </a:ln>
        </p:spPr>
      </p:sp>
      <p:pic>
        <p:nvPicPr>
          <p:cNvPr id="16" name="Check icon 5" descr="Check">    </p:cNvPr>
          <p:cNvPicPr>
            <a:picLocks noChangeAspect="1"/>
          </p:cNvPicPr>
          <p:nvPr/>
        </p:nvPicPr>
        <p:blipFill>
          <a:blip r:embed="rId5"/>
          <a:stretch>
            <a:fillRect/>
          </a:stretch>
        </p:blipFill>
        <p:spPr>
          <a:xfrm>
            <a:off x="676656" y="5266944"/>
            <a:ext cx="246888" cy="246888"/>
          </a:xfrm>
          <a:prstGeom prst="rect">
            <a:avLst/>
          </a:prstGeom>
        </p:spPr>
      </p:pic>
      <p:sp>
        <p:nvSpPr>
          <p:cNvPr id="17" name="To-do 5"/>
          <p:cNvSpPr txBox="1"/>
          <p:nvPr/>
        </p:nvSpPr>
        <p:spPr>
          <a:xfrm>
            <a:off x="1325880" y="5093208"/>
            <a:ext cx="10314432" cy="640080"/>
          </a:xfrm>
          <a:prstGeom prst="rect">
            <a:avLst/>
          </a:prstGeom>
          <a:noFill/>
          <a:ln/>
        </p:spPr>
        <p:txBody>
          <a:bodyPr wrap="square" lIns="0" tIns="0" rIns="0" bIns="0" rtlCol="0" anchor="ctr"/>
          <a:lstStyle/>
          <a:p>
            <a:pPr indent="0" marL="0">
              <a:buNone/>
            </a:pPr>
            <a:r>
              <a:rPr lang="en-US" sz="2000" b="1" dirty="0">
                <a:solidFill>
                  <a:schemeClr val="bg1"/>
                </a:solidFill>
              </a:rPr>
              <a:t>Social links  </a:t>
            </a:r>
            <a:pPr indent="0" marL="0">
              <a:buNone/>
            </a:pPr>
            <a:r>
              <a:rPr lang="en-US" sz="1600" dirty="0">
                <a:solidFill>
                  <a:srgbClr val="D8C6B4"/>
                </a:solidFill>
              </a:rPr>
              <a:t>Point Instagram, Facebook and X to your real pages.</a:t>
            </a:r>
            <a:endParaRPr lang="en-US" sz="2000" dirty="0"/>
          </a:p>
        </p:txBody>
      </p:sp>
      <p:sp>
        <p:nvSpPr>
          <p:cNvPr id="18" name="Thanks"/>
          <p:cNvSpPr txBox="1"/>
          <p:nvPr/>
        </p:nvSpPr>
        <p:spPr>
          <a:xfrm>
            <a:off x="548640" y="5897880"/>
            <a:ext cx="5486400" cy="45720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Thank you</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8C6B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lkaram Bakers">
  <a:themeElements>
    <a:clrScheme name="Alkaram Bakers">
      <a:dk1>
        <a:srgbClr val="2A1209"/>
      </a:dk1>
      <a:lt1>
        <a:srgbClr val="FFFFFF"/>
      </a:lt1>
      <a:dk2>
        <a:srgbClr val="6A351C"/>
      </a:dk2>
      <a:lt2>
        <a:srgbClr val="F6EFE4"/>
      </a:lt2>
      <a:accent1>
        <a:srgbClr val="E2AD3C"/>
      </a:accent1>
      <a:accent2>
        <a:srgbClr val="B9792F"/>
      </a:accent2>
      <a:accent3>
        <a:srgbClr val="6A351C"/>
      </a:accent3>
      <a:accent4>
        <a:srgbClr val="A8564A"/>
      </a:accent4>
      <a:accent5>
        <a:srgbClr val="8A8F5A"/>
      </a:accent5>
      <a:accent6>
        <a:srgbClr val="C98A5A"/>
      </a:accent6>
      <a:hlink>
        <a:srgbClr val="B9792F"/>
      </a:hlink>
      <a:folHlink>
        <a:srgbClr val="6A351C"/>
      </a:folHlink>
    </a:clrScheme>
    <a:fontScheme name="Alkaram Bak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Alkaram Bakers Website</dc:title>
  <dc:subject>PptxGenJS Presentation</dc:subject>
  <dc:creator>Alkaram Bakers</dc:creator>
  <cp:lastModifiedBy>Alkaram Bakers</cp:lastModifiedBy>
  <cp:revision>1</cp:revision>
  <dcterms:created xsi:type="dcterms:W3CDTF">2026-10-06T07:28:50Z</dcterms:created>
  <dcterms:modified xsi:type="dcterms:W3CDTF">2026-10-06T07:28:50Z</dcterms:modified>
</cp:coreProperties>
</file>